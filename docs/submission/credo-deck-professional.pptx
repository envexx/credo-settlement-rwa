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a6f69e1e72495e" /><Relationship Type="http://schemas.openxmlformats.org/officeDocument/2006/relationships/extended-properties" Target="/docProps/app.xml" Id="R669ab3f9697a4fd9" /><Relationship Type="http://schemas.openxmlformats.org/officeDocument/2006/relationships/officeDocument" Target="/ppt/presentation.xml" Id="R89b694c474184b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3677b2b78e4b23"/>
  </p:sldMasterIdLst>
  <p:notesMasterIdLst>
    <p:notesMasterId xmlns:r="http://schemas.openxmlformats.org/officeDocument/2006/relationships" r:id="Rd4cecc322d334690"/>
  </p:notesMasterIdLst>
  <p:sldIdLst>
    <p:sldId xmlns:r="http://schemas.openxmlformats.org/officeDocument/2006/relationships" id="256" r:id="Re6e53064cbcb4c81"/>
    <p:sldId xmlns:r="http://schemas.openxmlformats.org/officeDocument/2006/relationships" id="257" r:id="Rd3fbf833eeff4324"/>
    <p:sldId xmlns:r="http://schemas.openxmlformats.org/officeDocument/2006/relationships" id="258" r:id="R295338eee1e64550"/>
    <p:sldId xmlns:r="http://schemas.openxmlformats.org/officeDocument/2006/relationships" id="259" r:id="R8b1fc1fea5324d3b"/>
    <p:sldId xmlns:r="http://schemas.openxmlformats.org/officeDocument/2006/relationships" id="260" r:id="R51bca57d7b4148f4"/>
    <p:sldId xmlns:r="http://schemas.openxmlformats.org/officeDocument/2006/relationships" id="261" r:id="Rb3ff09dc6d174c82"/>
    <p:sldId xmlns:r="http://schemas.openxmlformats.org/officeDocument/2006/relationships" id="262" r:id="R7ce4d21ec9f0406d"/>
    <p:sldId xmlns:r="http://schemas.openxmlformats.org/officeDocument/2006/relationships" id="263" r:id="R64792cbcba894f1d"/>
    <p:sldId xmlns:r="http://schemas.openxmlformats.org/officeDocument/2006/relationships" id="264" r:id="R54f98ffee595461d"/>
    <p:sldId xmlns:r="http://schemas.openxmlformats.org/officeDocument/2006/relationships" id="265" r:id="Rd82d6a558b604dab"/>
    <p:sldId xmlns:r="http://schemas.openxmlformats.org/officeDocument/2006/relationships" id="266" r:id="Rccc4cdb0292042e7"/>
    <p:sldId xmlns:r="http://schemas.openxmlformats.org/officeDocument/2006/relationships" id="267" r:id="R5ff8271231b043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bd152d6367449c" /><Relationship Type="http://schemas.openxmlformats.org/officeDocument/2006/relationships/slideMaster" Target="/ppt/slideMasters/slideMaster1.xml" Id="Rff3677b2b78e4b23" /><Relationship Type="http://schemas.openxmlformats.org/officeDocument/2006/relationships/notesMaster" Target="/ppt/notesMasters/notesMaster1.xml" Id="Rd4cecc322d334690" /><Relationship Type="http://schemas.openxmlformats.org/officeDocument/2006/relationships/presProps" Target="/ppt/presProps.xml" Id="R96c8c6b231304920" /><Relationship Type="http://schemas.openxmlformats.org/officeDocument/2006/relationships/tableStyles" Target="/ppt/tableStyles.xml" Id="R43f0c238ffa141c9" /><Relationship Type="http://schemas.openxmlformats.org/officeDocument/2006/relationships/slide" Target="/ppt/slides/slide1.xml" Id="Re6e53064cbcb4c81" /><Relationship Type="http://schemas.openxmlformats.org/officeDocument/2006/relationships/slide" Target="/ppt/slides/slide2.xml" Id="Rd3fbf833eeff4324" /><Relationship Type="http://schemas.openxmlformats.org/officeDocument/2006/relationships/slide" Target="/ppt/slides/slide3.xml" Id="R295338eee1e64550" /><Relationship Type="http://schemas.openxmlformats.org/officeDocument/2006/relationships/slide" Target="/ppt/slides/slide4.xml" Id="R8b1fc1fea5324d3b" /><Relationship Type="http://schemas.openxmlformats.org/officeDocument/2006/relationships/slide" Target="/ppt/slides/slide5.xml" Id="R51bca57d7b4148f4" /><Relationship Type="http://schemas.openxmlformats.org/officeDocument/2006/relationships/slide" Target="/ppt/slides/slide6.xml" Id="Rb3ff09dc6d174c82" /><Relationship Type="http://schemas.openxmlformats.org/officeDocument/2006/relationships/slide" Target="/ppt/slides/slide7.xml" Id="R7ce4d21ec9f0406d" /><Relationship Type="http://schemas.openxmlformats.org/officeDocument/2006/relationships/slide" Target="/ppt/slides/slide8.xml" Id="R64792cbcba894f1d" /><Relationship Type="http://schemas.openxmlformats.org/officeDocument/2006/relationships/slide" Target="/ppt/slides/slide9.xml" Id="R54f98ffee595461d" /><Relationship Type="http://schemas.openxmlformats.org/officeDocument/2006/relationships/slide" Target="/ppt/slides/slide10.xml" Id="Rd82d6a558b604dab" /><Relationship Type="http://schemas.openxmlformats.org/officeDocument/2006/relationships/slide" Target="/ppt/slides/slide11.xml" Id="Rccc4cdb0292042e7" /><Relationship Type="http://schemas.openxmlformats.org/officeDocument/2006/relationships/slide" Target="/ppt/slides/slide12.xml" Id="R5ff8271231b043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48ea32a66449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2cacc50e24782" /><Relationship Type="http://schemas.openxmlformats.org/officeDocument/2006/relationships/notesMaster" Target="/ppt/notesMasters/notesMaster1.xml" Id="R5a80eb87445646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6505a94a9d4228" /><Relationship Type="http://schemas.openxmlformats.org/officeDocument/2006/relationships/notesMaster" Target="/ppt/notesMasters/notesMaster1.xml" Id="R3c247437b3fa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4fa7c4d14f4e03" /><Relationship Type="http://schemas.openxmlformats.org/officeDocument/2006/relationships/notesMaster" Target="/ppt/notesMasters/notesMaster1.xml" Id="R4f88536d1c8b4f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20066225864de0" /><Relationship Type="http://schemas.openxmlformats.org/officeDocument/2006/relationships/notesMaster" Target="/ppt/notesMasters/notesMaster1.xml" Id="R5c70e72341a7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3ea3d14c164c99" /><Relationship Type="http://schemas.openxmlformats.org/officeDocument/2006/relationships/notesMaster" Target="/ppt/notesMasters/notesMaster1.xml" Id="R577b6a1d3f8046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a86ae1bfb14d7b" /><Relationship Type="http://schemas.openxmlformats.org/officeDocument/2006/relationships/notesMaster" Target="/ppt/notesMasters/notesMaster1.xml" Id="Rc3014f9d38c24c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a60fa2d0d34722" /><Relationship Type="http://schemas.openxmlformats.org/officeDocument/2006/relationships/notesMaster" Target="/ppt/notesMasters/notesMaster1.xml" Id="Re67fc80aa7914b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2b512a6d3a4ebc" /><Relationship Type="http://schemas.openxmlformats.org/officeDocument/2006/relationships/notesMaster" Target="/ppt/notesMasters/notesMaster1.xml" Id="R4b902892e25a4d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7cfe8f3bcd4778" /><Relationship Type="http://schemas.openxmlformats.org/officeDocument/2006/relationships/notesMaster" Target="/ppt/notesMasters/notesMaster1.xml" Id="Rc2d32e49ad7246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4acde99b534d4e" /><Relationship Type="http://schemas.openxmlformats.org/officeDocument/2006/relationships/notesMaster" Target="/ppt/notesMasters/notesMaster1.xml" Id="Ra224cff79fa045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8814d5c39b498e" /><Relationship Type="http://schemas.openxmlformats.org/officeDocument/2006/relationships/notesMaster" Target="/ppt/notesMasters/notesMaster1.xml" Id="Racc8dd94a3844d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6d8be7a6e74945" /><Relationship Type="http://schemas.openxmlformats.org/officeDocument/2006/relationships/notesMaster" Target="/ppt/notesMasters/notesMaster1.xml" Id="Rde89f893a653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positioning and architecture: repository README and docs evidence.</a:t>
            </a:r>
          </a:p>
          <a:p xmlns:a="http://schemas.openxmlformats.org/drawingml/2006/main">
            <a:r>
              <a:t>- Live product screenshot captured from https://credo.becoder.xyz/ on 26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docs/submission/credo-deck.pdf, source slides 2–3.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docs/evidence/payment/sepolia-tx.json.</a:t>
            </a:r>
          </a:p>
          <a:p xmlns:a="http://schemas.openxmlformats.org/drawingml/2006/main">
            <a:r>
              <a:t>- docs/evidence/settlement/creditcoin-tx.json.</a:t>
            </a:r>
          </a:p>
          <a:p xmlns:a="http://schemas.openxmlformats.org/drawingml/2006/main">
            <a:r>
              <a:t>- docs/evidence/contracts/addresses.json.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contracts/src/SettleRWA.sol.</a:t>
            </a:r>
          </a:p>
          <a:p xmlns:a="http://schemas.openxmlformats.org/drawingml/2006/main">
            <a:r>
              <a:t>- contracts/src/PaymentVerifierUSC.sol.</a:t>
            </a:r>
          </a:p>
          <a:p xmlns:a="http://schemas.openxmlformats.org/drawingml/2006/main">
            <a:r>
              <a:t>- worker/ implementation and USC SDK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contracts/src/PaymentVerifierUSC.sol.</a:t>
            </a:r>
          </a:p>
          <a:p xmlns:a="http://schemas.openxmlformats.org/drawingml/2006/main">
            <a:r>
              <a:t>- docs/threat-model/README.md.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docs/threat-model/README.md.</a:t>
            </a:r>
          </a:p>
          <a:p xmlns:a="http://schemas.openxmlformats.org/drawingml/2006/main">
            <a:r>
              <a:t>- docs/evidence/security/slither.md.</a:t>
            </a:r>
          </a:p>
          <a:p xmlns:a="http://schemas.openxmlformats.org/drawingml/2006/main">
            <a:r>
              <a:t>- contracts/src/SettleRWA.sol.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docs/evidence/payment/sepolia-tx.json.</a:t>
            </a:r>
          </a:p>
          <a:p xmlns:a="http://schemas.openxmlformats.org/drawingml/2006/main">
            <a:r>
              <a:t>- docs/evidence/attestcoin/proof-run.json.</a:t>
            </a:r>
          </a:p>
          <a:p xmlns:a="http://schemas.openxmlformats.org/drawingml/2006/main">
            <a:r>
              <a:t>- docs/evidence/settlement/creditcoin-tx.json.</a:t>
            </a:r>
          </a:p>
          <a:p xmlns:a="http://schemas.openxmlformats.org/drawingml/2006/main">
            <a:r>
              <a:t>- docs/evidence/rwa/after.json.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playground screenshot captured from https://credo.becoder.xyz/playground on 26 August 2026.</a:t>
            </a:r>
          </a:p>
          <a:p xmlns:a="http://schemas.openxmlformats.org/drawingml/2006/main">
            <a:r>
              <a:t>- docs/TDD-AUDIT.md.</a:t>
            </a:r>
          </a:p>
          <a:p xmlns:a="http://schemas.openxmlformats.org/drawingml/2006/main">
            <a:r>
              <a:t>- In-app documentation under /infra.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docs/TDD-AUDIT.md, re-audit sessions 3–4.</a:t>
            </a:r>
          </a:p>
          <a:p xmlns:a="http://schemas.openxmlformats.org/drawingml/2006/main">
            <a:r>
              <a:t>- docs/evidence/security/slither.md.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docs/submission/credo-deck.pdf, source slide 9.</a:t>
            </a:r>
          </a:p>
          <a:p xmlns:a="http://schemas.openxmlformats.org/drawingml/2006/main">
            <a:r>
              <a:t>- docs/INFRA-WORKPLAN.md.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docs/submission/credo-deck.pdf, source slides 10–11.</a:t>
            </a:r>
          </a:p>
          <a:p xmlns:a="http://schemas.openxmlformats.org/drawingml/2006/main">
            <a:r>
              <a:t>- docs/TDD-AUDIT.md, open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root and docs/evidence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06b1990ff43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5d5a33487d4f17" /><Relationship Type="http://schemas.openxmlformats.org/officeDocument/2006/relationships/slideLayout" Target="/ppt/slideLayouts/slideLayout1.xml" Id="Rdb758ec31ad24c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758ec31ad24c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c957cb9744164" /><Relationship Type="http://schemas.openxmlformats.org/officeDocument/2006/relationships/image" Target="/ppt/media/image.png" Id="Rcec0b3d888fb41fe" /><Relationship Type="http://schemas.openxmlformats.org/officeDocument/2006/relationships/image" Target="/ppt/media/image2.png" Id="R1ea6e8a36e684cf5" /><Relationship Type="http://schemas.openxmlformats.org/officeDocument/2006/relationships/notesSlide" Target="/ppt/notesSlides/notesSlide1.xml" Id="R642cdeb1d5b5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fb4c3465247b5" /><Relationship Type="http://schemas.openxmlformats.org/officeDocument/2006/relationships/notesSlide" Target="/ppt/notesSlides/notesSlide2.xml" Id="R0dd4d96bf21b42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5e524fb0a4ae5" /><Relationship Type="http://schemas.openxmlformats.org/officeDocument/2006/relationships/notesSlide" Target="/ppt/notesSlides/notesSlide3.xml" Id="Rde604f7646f447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e16a091c94f84" /><Relationship Type="http://schemas.openxmlformats.org/officeDocument/2006/relationships/notesSlide" Target="/ppt/notesSlides/notesSlide4.xml" Id="Rcc93d6956fc3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559a0343d4fd2" /><Relationship Type="http://schemas.openxmlformats.org/officeDocument/2006/relationships/notesSlide" Target="/ppt/notesSlides/notesSlide5.xml" Id="R26a69ce8d1ac41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78b5d0d884c27" /><Relationship Type="http://schemas.openxmlformats.org/officeDocument/2006/relationships/notesSlide" Target="/ppt/notesSlides/notesSlide6.xml" Id="Rb0623d07480540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bf49762374c1b" /><Relationship Type="http://schemas.openxmlformats.org/officeDocument/2006/relationships/notesSlide" Target="/ppt/notesSlides/notesSlide7.xml" Id="R19c7d95594cd40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6e4de707c4516" /><Relationship Type="http://schemas.openxmlformats.org/officeDocument/2006/relationships/image" Target="/ppt/media/image3.png" Id="Rbba93b1c7f7d4b49" /><Relationship Type="http://schemas.openxmlformats.org/officeDocument/2006/relationships/notesSlide" Target="/ppt/notesSlides/notesSlide8.xml" Id="R7a90cfc4fc474a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fbb14d2604113" /><Relationship Type="http://schemas.openxmlformats.org/officeDocument/2006/relationships/notesSlide" Target="/ppt/notesSlides/notesSlide9.xml" Id="Rd33cd54f29824a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db5a0a0634813" /><Relationship Type="http://schemas.openxmlformats.org/officeDocument/2006/relationships/notesSlide" Target="/ppt/notesSlides/notesSlide10.xml" Id="R92871382ae7e46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ba3f95ae04901" /><Relationship Type="http://schemas.openxmlformats.org/officeDocument/2006/relationships/notesSlide" Target="/ppt/notesSlides/notesSlide11.xml" Id="R7c37be7c44844c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09d652b23412d" /><Relationship Type="http://schemas.openxmlformats.org/officeDocument/2006/relationships/image" Target="/ppt/media/image4.png" Id="Ra44f47826c024dd8" /><Relationship Type="http://schemas.openxmlformats.org/officeDocument/2006/relationships/notesSlide" Target="/ppt/notesSlides/notesSlide12.xml" Id="R8473b362b02a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0b3d888fb41fe"/>
          <a:stretch xmlns:a="http://schemas.openxmlformats.org/drawingml/2006/main"/>
        </p:blipFill>
        <p:spPr>
          <a:xfrm xmlns:a="http://schemas.openxmlformats.org/drawingml/2006/main">
            <a:off x="609600" y="746125"/>
            <a:ext cx="819150" cy="546100"/>
          </a:xfrm>
          <a:prstGeom xmlns:a="http://schemas.openxmlformats.org/drawingml/2006/main" prst="roundRect">
            <a:avLst>
              <a:gd name="adj" fmla="val 1395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76BF1-61F6-4CF3-8DBD-503D286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EF1C"/>
                </a:solidFill>
              </a:defRPr>
            </a:pPr>
            <a:r>
              <a:rPr sz="1950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65B19-2D9F-4475-9788-73E3A575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47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510"/>
                </a:solidFill>
              </a:defRPr>
            </a:pPr>
            <a:r>
              <a:rPr sz="4350" b="1">
                <a:solidFill>
                  <a:srgbClr val="111510"/>
                </a:solidFill>
              </a:rPr>
              <a:t>Move ownership with</a:t>
            </a:r>
          </a:p>
          <a:p xmlns:a="http://schemas.openxmlformats.org/drawingml/2006/main">
            <a:pPr algn="l">
              <a:defRPr sz="4350" b="1">
                <a:solidFill>
                  <a:srgbClr val="111510"/>
                </a:solidFill>
              </a:defRPr>
            </a:pPr>
            <a:r>
              <a:rPr sz="4350" b="1">
                <a:solidFill>
                  <a:srgbClr val="111510"/>
                </a:solidFill>
              </a:rPr>
              <a:t>verifiable payment.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01B9D-14B4-45F8-939A-3D655577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A60"/>
                </a:solidFill>
              </a:defRPr>
            </a:pPr>
            <a:r>
              <a:rPr sz="1725" b="0">
                <a:solidFill>
                  <a:srgbClr val="626A60"/>
                </a:solidFill>
              </a:rPr>
              <a:t>USDC stays final on Ethereum. The RWA stays native on Creditcoin. Only cryptographic proof crosses chains.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97B2-AE73-48B5-B0A2-7B9C508C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0">
            <a:solidFill>
              <a:srgbClr val="A7EF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AA029-8800-4378-87E1-2D72A1F3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0"/>
                </a:solidFill>
              </a:defRPr>
            </a:pPr>
            <a:r>
              <a:rPr sz="1275" b="1">
                <a:solidFill>
                  <a:srgbClr val="111510"/>
                </a:solidFill>
              </a:rPr>
              <a:t>Proof-triggered RWA settlement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6e8a36e684cf5"/>
          <a:stretch xmlns:a="http://schemas.openxmlformats.org/drawingml/2006/main"/>
        </p:blipFill>
        <p:spPr>
          <a:xfrm xmlns:a="http://schemas.openxmlformats.org/drawingml/2006/main">
            <a:off x="7029450" y="2033777"/>
            <a:ext cx="4762500" cy="2142746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BCCAE-0F6C-4F67-9E92-0E8662E1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470BD-FA8F-4D0E-BF8F-621ACD3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1059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72835-F5A9-47FE-AF22-E335C791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05D7E-392C-48BE-9AC2-100D002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2DF8D-0449-4F2A-87AE-7F3877AD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457E5-FBC5-41FC-A95F-111DA7B3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8FE16-B0B4-4502-A197-02EA56B0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Cross-chain RWA settlement breaks at the trust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9E0CB-DC76-47A9-ABEE-B2020588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Payments may be final, yet delivery still depends on bridges, wrappers, or privileged operators.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74834-F542-444C-BBF1-36363B5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CC6EB-F8E9-45B0-9586-B0FEDD00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BRIDGE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2EA4E-461C-4613-AFA1-4050871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60"/>
                </a:solidFill>
              </a:defRPr>
            </a:pPr>
            <a:r>
              <a:rPr sz="1350" b="0">
                <a:solidFill>
                  <a:srgbClr val="626A60"/>
                </a:solidFill>
              </a:rPr>
              <a:t>Final USDC becomes wrapped exposure.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B4226-E14B-4F3B-8308-27492D3E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480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5BA47-F3E4-4744-B1CD-506A5588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54B3C-04DC-4D40-9A96-22EF8915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ORACLE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8A6CB-8D2C-4C0A-AC09-D6DE787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60"/>
                </a:solidFill>
              </a:defRPr>
            </a:pPr>
            <a:r>
              <a:rPr sz="1350" b="0">
                <a:solidFill>
                  <a:srgbClr val="626A60"/>
                </a:solidFill>
              </a:rPr>
              <a:t>A backend assertion replaces cryptographic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B8BA5-7880-41DB-A14A-A3725E6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29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EF751-CFC9-48EE-BCF9-865E049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C7491-61B9-4207-ADBF-2A8FEDC0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OPERATOR POWER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74D21-3D43-43CC-AE9D-B2EFF4B0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60"/>
                </a:solidFill>
              </a:defRPr>
            </a:pPr>
            <a:r>
              <a:rPr sz="1350" b="0">
                <a:solidFill>
                  <a:srgbClr val="626A60"/>
                </a:solidFill>
              </a:rPr>
              <a:t>One compromised key can redirect settlement.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A36A8-63A3-4E04-894B-A52D2BCC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0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53E6C-934A-4876-9B24-22C28781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32DBC-68F9-416E-8599-C2E0C69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WEAK BINDING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16559-AA0F-49E4-981F-19A63A71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6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60"/>
                </a:solidFill>
              </a:defRPr>
            </a:pPr>
            <a:r>
              <a:rPr sz="1350" b="0">
                <a:solidFill>
                  <a:srgbClr val="626A60"/>
                </a:solidFill>
              </a:rPr>
              <a:t>A payment can settle the wrong buyer, asset, amount, or window.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0028B-3824-4449-A180-0D86CE0F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911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BDCA5-9A03-4992-91FE-9274CA55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C14B9-DFC6-4C3C-9192-7E7B6FAB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8227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CCA23-FA5D-49BD-8D69-7110CC8B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F6E37-4AF4-40A7-ADDE-7B5E925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32F89-9FD4-400D-8CDA-B4DFC6E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AC39C-9C21-4CF4-89FA-E4BB4874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64CE7-59FA-4195-A27E-C3CD3BB3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Move proof—not money or assets.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E946D-A54A-49B2-99EE-E9C82819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Credo separates what must remain native from what must cross.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74AE1-19ED-4B20-94E6-8FB13024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429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330EE-F2B5-4962-B6DB-863914F7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9F12"/>
                </a:solidFill>
              </a:defRPr>
            </a:pPr>
            <a:r>
              <a:rPr sz="975" b="1">
                <a:solidFill>
                  <a:srgbClr val="6E9F12"/>
                </a:solidFill>
              </a:rPr>
              <a:t>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B5429-E422-4632-AAC2-6E9D30B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510"/>
                </a:solidFill>
              </a:defRPr>
            </a:pPr>
            <a:r>
              <a:rPr sz="1800" b="1">
                <a:solidFill>
                  <a:srgbClr val="111510"/>
                </a:solidFill>
              </a:rPr>
              <a:t>ETHEREUM SEPOLIA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A10D4-83F2-4CAB-A2DD-D3A845D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0"/>
                </a:solidFill>
              </a:defRPr>
            </a:pPr>
            <a:r>
              <a:rPr sz="1500" b="0">
                <a:solidFill>
                  <a:srgbClr val="626A60"/>
                </a:solidFill>
              </a:rPr>
              <a:t>USDC stays 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29FC0-827E-4FCD-8D0D-75F0FF3C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0">
            <a:solidFill>
              <a:srgbClr val="A7EF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41B62-1C28-49B8-860F-3BAF37E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10"/>
                </a:solidFill>
              </a:defRPr>
            </a:pPr>
            <a:r>
              <a:rPr sz="1125" b="1">
                <a:solidFill>
                  <a:srgbClr val="111510"/>
                </a:solidFill>
              </a:rPr>
              <a:t>NO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71BD9-F5FA-4C7C-AC54-805AED34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429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BD7"/>
          </a:solidFill>
          <a:ln xmlns:a="http://schemas.openxmlformats.org/drawingml/2006/main" w="9525">
            <a:solidFill>
              <a:srgbClr val="85C90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D26A1-D9C8-4BFC-9920-C0FFD0FD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71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9F12"/>
                </a:solidFill>
              </a:defRPr>
            </a:pPr>
            <a:r>
              <a:rPr sz="975" b="1">
                <a:solidFill>
                  <a:srgbClr val="6E9F12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5D25B-9A86-4962-B121-87EF63CC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510"/>
                </a:solidFill>
              </a:defRPr>
            </a:pPr>
            <a:r>
              <a:rPr sz="1800" b="1">
                <a:solidFill>
                  <a:srgbClr val="111510"/>
                </a:solidFill>
              </a:rPr>
              <a:t>ATTESTCOIN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36CE0-AFAA-4BCB-9896-35BA4E32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671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0"/>
                </a:solidFill>
              </a:defRPr>
            </a:pPr>
            <a:r>
              <a:rPr sz="1500" b="0">
                <a:solidFill>
                  <a:srgbClr val="626A60"/>
                </a:solidFill>
              </a:rPr>
              <a:t>Receipt + continuity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4201B-2C33-4DD4-A325-A768E38D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0">
            <a:solidFill>
              <a:srgbClr val="A7EF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2F237-F925-421C-A503-8895AC72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10"/>
                </a:solidFill>
              </a:defRPr>
            </a:pPr>
            <a:r>
              <a:rPr sz="1125" b="1">
                <a:solidFill>
                  <a:srgbClr val="111510"/>
                </a:solidFill>
              </a:rPr>
              <a:t>ONLY THIS CROSSES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B1D3A-10BA-4409-A794-8A41217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429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3255C-B609-4D6B-8133-57D91872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9F12"/>
                </a:solidFill>
              </a:defRPr>
            </a:pPr>
            <a:r>
              <a:rPr sz="975" b="1">
                <a:solidFill>
                  <a:srgbClr val="6E9F12"/>
                </a:solidFill>
              </a:rPr>
              <a:t>OWNERSHIP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DCDBD-E17B-49D6-BC4C-BDCF9F8C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510"/>
                </a:solidFill>
              </a:defRPr>
            </a:pPr>
            <a:r>
              <a:rPr sz="1800" b="1">
                <a:solidFill>
                  <a:srgbClr val="111510"/>
                </a:solidFill>
              </a:rPr>
              <a:t>CREDITCOIN CC3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92795-EE92-4134-A2B4-55BB3B4A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A60"/>
                </a:solidFill>
              </a:defRPr>
            </a:pPr>
            <a:r>
              <a:rPr sz="1500" b="0">
                <a:solidFill>
                  <a:srgbClr val="626A60"/>
                </a:solidFill>
              </a:rPr>
              <a:t>ERC-1155 changes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54109-2C29-4713-A7FF-CE048137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0">
            <a:solidFill>
              <a:srgbClr val="A7EF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8F2EC-F6F0-4B73-AF43-4546FD1A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10"/>
                </a:solidFill>
              </a:defRPr>
            </a:pPr>
            <a:r>
              <a:rPr sz="1125" b="1">
                <a:solidFill>
                  <a:srgbClr val="111510"/>
                </a:solidFill>
              </a:rPr>
              <a:t>CONTRACT DECIDES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840CB-9FC2-40CC-9E79-3FD6251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676E4-5CB5-4888-B9D9-5A691F5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8462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05BEBD-5387-40FA-8C41-D2C11B27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4E0FD-C745-4EFB-A419-973BCFC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3A252-713D-423C-BF0E-8B98C64A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C007C-10D4-4E2F-B319-01B3C3E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1AEA1-B872-4518-A68F-4148F67E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One payment. One proof. One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D572-0F13-45F8-9D73-5BE7017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The worker observes; Attestcoin proves; the contract owns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492CB-71F9-4755-9698-C9D475CB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962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5B83-5414-48BF-80D5-BD4EB52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5F0"/>
          </a:solidFill>
          <a:ln xmlns:a="http://schemas.openxmlformats.org/drawingml/2006/main" w="28575">
            <a:solidFill>
              <a:srgbClr val="A7EF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4A138-3D89-49DD-8AF8-CC69AD1E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67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2515D-2B2B-4215-858B-E5E0517E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SELLER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BA7AB-38B7-4D9A-BA11-271D2D6A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Escrows ERC-1155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1B8DD-C67B-4CCD-BE60-F001CA39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43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5F0"/>
          </a:solidFill>
          <a:ln xmlns:a="http://schemas.openxmlformats.org/drawingml/2006/main" w="28575">
            <a:solidFill>
              <a:srgbClr val="A7EF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EA3C4-42C6-41D7-BB5E-657B044C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67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F615D-78C4-4634-ABB9-54C58DF7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76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BUYER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8409F-F56D-43BB-B837-074ECC22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101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Pays native USDC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DDE5F-C2C2-435E-BAC3-8BC61E82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43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5F0"/>
          </a:solidFill>
          <a:ln xmlns:a="http://schemas.openxmlformats.org/drawingml/2006/main" w="28575">
            <a:solidFill>
              <a:srgbClr val="A7EF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D60FF-4777-475B-9BB4-9462439C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67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A9129-2182-4D1B-AF11-B9743FDA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11E82-EB76-49E9-BDD2-FDE7E16C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101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Discovers receipt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8AABD-20D8-41EB-BB95-8C3CEA9E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543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5F0"/>
          </a:solidFill>
          <a:ln xmlns:a="http://schemas.openxmlformats.org/drawingml/2006/main" w="28575">
            <a:solidFill>
              <a:srgbClr val="A7EF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6EE9E-0B90-417A-897C-33E7E3AB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67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AC3AD-C922-4D93-B3AB-E9CB3C81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76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ATTESTCOIN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7D584-CC99-480A-B9FA-E7BB3802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101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Builds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A8C70-A179-4CD8-9E95-4FE57C2D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43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28575">
            <a:solidFill>
              <a:srgbClr val="A7EF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FE873-BEF7-4691-A925-6139C3C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67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510"/>
                </a:solidFill>
              </a:defRPr>
            </a:pPr>
            <a:r>
              <a:rPr sz="1200" b="1">
                <a:solidFill>
                  <a:srgbClr val="111510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26BA3-FCF4-47FD-98D8-4AA5565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0F9F0-76A4-49E9-9CCA-D87DBE0A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01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Verifies + releases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91D7D-4A7A-41A8-B389-FA936176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EF1C"/>
                </a:solidFill>
              </a:defRPr>
            </a:pPr>
            <a:r>
              <a:rPr sz="1125" b="1">
                <a:solidFill>
                  <a:srgbClr val="A7EF1C"/>
                </a:solidFill>
              </a:rPr>
              <a:t>PAYMENT STAYS ON ETHEREUM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9565B-5E28-4A16-BCC0-B4F33F62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19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7EF1C"/>
                </a:solidFill>
              </a:defRPr>
            </a:pPr>
            <a:r>
              <a:rPr sz="1125" b="1">
                <a:solidFill>
                  <a:srgbClr val="A7EF1C"/>
                </a:solidFill>
              </a:rPr>
              <a:t>OWNERSHIP STAYS ON CREDITCOIN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279CE-ED9A-4D29-B0A0-8C586970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566CB9-06F5-47E4-A24C-6FAD83F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3576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9B370B-5F67-49D3-9E11-DA20B88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64363-F67F-46A9-90E8-62C83B56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F2939-AAE9-4489-872B-0F8562C1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229B6-B958-4B22-8A3F-508DAF6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62E13-A789-40DF-ABFD-544BEF24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Settlement has one admissible path: exact proof match.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BD5EC-6465-40A6-9FAE-7A205130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Verified bytes—not worker claims—must satisfy every on-chain constraint.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28095-510C-4C52-BA83-CA5CB12E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85D4B-C925-4E7F-8B59-38CB98E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F1C"/>
                </a:solidFill>
              </a:defRPr>
            </a:pPr>
            <a:r>
              <a:rPr sz="1800" b="1">
                <a:solidFill>
                  <a:srgbClr val="A7EF1C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FBC79-C1DA-4030-B846-784A1EF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Verifier precompile accepts inclusion + continuity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E9D79-7651-4FB6-A65E-716074CA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20F6C-4D8B-4449-90DF-13CA6158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F1C"/>
                </a:solidFill>
              </a:defRPr>
            </a:pPr>
            <a:r>
              <a:rPr sz="1800" b="1">
                <a:solidFill>
                  <a:srgbClr val="A7EF1C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ADBB2-F8D1-4BC4-A63B-6463D7B5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Receipt status is successful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86A80-7D69-43E4-AE59-59F816B9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82A47-7BFE-4495-91FD-C0F94974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F1C"/>
                </a:solidFill>
              </a:defRPr>
            </a:pPr>
            <a:r>
              <a:rPr sz="1800" b="1">
                <a:solidFill>
                  <a:srgbClr val="A7EF1C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51DC6-6350-4FA1-9A06-7CAA96A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Emitter is official Sepolia USDC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85848-AFD1-4BD9-A4CE-21A6A678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3417B-4657-4E38-AB12-E3AD1543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F1C"/>
                </a:solidFill>
              </a:defRPr>
            </a:pPr>
            <a:r>
              <a:rPr sz="1800" b="1">
                <a:solidFill>
                  <a:srgbClr val="A7EF1C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CC258-6C1A-4926-805A-91856FE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Buyer, seller, amount, token, and window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A86B9-41EC-4EC2-85E5-29186C2B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8EC48-215F-4FB4-8D51-03DD344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F1C"/>
                </a:solidFill>
              </a:defRPr>
            </a:pPr>
            <a:r>
              <a:rPr sz="1800" b="1">
                <a:solidFill>
                  <a:srgbClr val="A7EF1C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93C12-38B4-4A16-8352-2A72F3D2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Exactly one Transfer event matches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836B3-8D0E-48BB-B67C-347950C4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5257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6C5F9-2D1F-491F-A7F4-B58D55A2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EF1C"/>
                </a:solidFill>
              </a:defRPr>
            </a:pPr>
            <a:r>
              <a:rPr sz="1800" b="1">
                <a:solidFill>
                  <a:srgbClr val="A7EF1C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BA2A2-44FE-4357-BDE3-9A81DAC6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Query ID has never been used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03833-D73C-46A6-94C3-A8DB8485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7E95C-E035-4258-A9FA-1D26E16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6869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E5F52-8172-4DD7-BF11-4D7F4F8D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8A719-8BF7-4A9C-8D73-630E1B64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66746-CECC-4CFB-A6A0-D48B96E6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210F3-9684-4C20-8D45-DD32D2A3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5E3A5-7A82-4FF7-A57D-3BC75672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The worker carries evidence—never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ECBA2-1C4B-450C-9CF4-AEC66533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Settlement power remains inside non-upgradeable contract logic.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D9F49-94BC-4124-A220-DE18A090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CONTRACT ENFORCES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42091-9145-4D48-9EBA-0A4F9F3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OPERATOR CANNOT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43BDC-9E20-4892-B611-104F0630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EF1C"/>
                </a:solidFill>
              </a:defRPr>
            </a:pPr>
            <a:r>
              <a:rPr sz="1650" b="1">
                <a:solidFill>
                  <a:srgbClr val="A7EF1C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50B32-8D57-48C3-8995-9FC1D035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Release and replay marker are atomic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99DB2-1A5B-495F-8A64-C8773102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EF1C"/>
                </a:solidFill>
              </a:defRPr>
            </a:pPr>
            <a:r>
              <a:rPr sz="1650" b="1">
                <a:solidFill>
                  <a:srgbClr val="A7EF1C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88785-5CB9-4EB6-B656-E2F86E53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Checks-effects-interactions + reentrancy guard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676F0-A509-4A86-A9BA-3D9616C5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EF1C"/>
                </a:solidFill>
              </a:defRPr>
            </a:pPr>
            <a:r>
              <a:rPr sz="1650" b="1">
                <a:solidFill>
                  <a:srgbClr val="A7EF1C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FCA26-60D2-493F-A141-24AB567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One open sale per exact payment tuple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356B6-DAF9-4A9A-8BB8-1EBB2633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EF1C"/>
                </a:solidFill>
              </a:defRPr>
            </a:pPr>
            <a:r>
              <a:rPr sz="1650" b="1">
                <a:solidFill>
                  <a:srgbClr val="A7EF1C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99F68-420C-487F-AEFB-D290A1F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Reclaim only after payment window + grace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6A46A-A57D-43D8-8A88-13666D5E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72"/>
                </a:solidFill>
              </a:defRPr>
            </a:pPr>
            <a:r>
              <a:rPr sz="1650" b="1">
                <a:solidFill>
                  <a:srgbClr val="FF8A72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92FC7-8638-433C-B173-31CEF770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Force-settle escrowed 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58AA8-5C54-4366-86CC-8DA45A73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72"/>
                </a:solidFill>
              </a:defRPr>
            </a:pPr>
            <a:r>
              <a:rPr sz="1650" b="1">
                <a:solidFill>
                  <a:srgbClr val="FF8A72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30C82-FDDB-46BF-872A-057A8FB5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Mark arbitrary proofs as verified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BA3FD-851A-48EA-B6DA-8F3140E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72"/>
                </a:solidFill>
              </a:defRPr>
            </a:pPr>
            <a:r>
              <a:rPr sz="1650" b="1">
                <a:solidFill>
                  <a:srgbClr val="FF8A72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3FF17-5C67-4FDE-B716-E01BDC13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Change buyer after sale creation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2BA88-42C7-4C6A-B82C-43D453A2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72"/>
                </a:solidFill>
              </a:defRPr>
            </a:pPr>
            <a:r>
              <a:rPr sz="1650" b="1">
                <a:solidFill>
                  <a:srgbClr val="FF8A72"/>
                </a:solidFill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9C0C8-6939-494F-A1A0-3EDA1EA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911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Touch funds or hold privileged roles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841BB-4DCC-4098-A075-8C621C77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740DC2-F054-4E3D-8B7C-60675D95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8335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BF778-E8EA-4796-883B-3A46EA6F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E5CDC-F3FA-4DD4-8BB1-672DB649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LIVE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51DAA-F5CA-4B90-ABB1-4464EB6E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76FE5-B6BB-4A13-BB1B-25FB93D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D73E2-6C7D-468B-B934-6C2BBF5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A complete testnet settlement closes the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15F7C-633A-4FBF-AD3E-95BB3C2B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Distinct buyer and seller wallets; official Sepolia USDC; final ownership on CC3.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E4BDE-5F27-4227-A864-7D12EAC9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2552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E6630-7B2D-4673-B154-15154950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510"/>
                </a:solidFill>
              </a:defRPr>
            </a:pPr>
            <a:r>
              <a:rPr sz="2550" b="1">
                <a:solidFill>
                  <a:srgbClr val="111510"/>
                </a:solidFill>
              </a:rPr>
              <a:t>489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173F2-747F-4350-8FC6-ADCAF629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A60"/>
                </a:solidFill>
              </a:defRPr>
            </a:pPr>
            <a:r>
              <a:rPr sz="900" b="1">
                <a:solidFill>
                  <a:srgbClr val="626A60"/>
                </a:solidFill>
              </a:rPr>
              <a:t>PAYMENT → SETTLEMENT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043F3-6410-48B5-9479-CE949EE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2552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82E98-ACE0-44AF-8688-83E0E0A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510"/>
                </a:solidFill>
              </a:defRPr>
            </a:pPr>
            <a:r>
              <a:rPr sz="2550" b="1">
                <a:solidFill>
                  <a:srgbClr val="11151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C7F2C-467A-42FA-9FA4-4A98204B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A60"/>
                </a:solidFill>
              </a:defRPr>
            </a:pPr>
            <a:r>
              <a:rPr sz="900" b="1">
                <a:solidFill>
                  <a:srgbClr val="626A60"/>
                </a:solidFill>
              </a:rPr>
              <a:t>INDEPENDENT WALLETS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E2184-C847-4074-BE2B-7D08FB42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47950"/>
            <a:ext cx="2552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D835A-CC3C-4566-91EB-5B32482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510"/>
                </a:solidFill>
              </a:defRPr>
            </a:pPr>
            <a:r>
              <a:rPr sz="2550" b="1">
                <a:solidFill>
                  <a:srgbClr val="111510"/>
                </a:solidFill>
              </a:rPr>
              <a:t>1 /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EA596-0BC2-4B22-BC09-B089E33D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A60"/>
                </a:solidFill>
              </a:defRPr>
            </a:pPr>
            <a:r>
              <a:rPr sz="900" b="1">
                <a:solidFill>
                  <a:srgbClr val="626A60"/>
                </a:solidFill>
              </a:rPr>
              <a:t>BUYER / ESCROW BALANCE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61533-376D-4905-891B-D4C7BA7B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2552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BD7"/>
          </a:solidFill>
          <a:ln xmlns:a="http://schemas.openxmlformats.org/drawingml/2006/main" w="9525">
            <a:solidFill>
              <a:srgbClr val="85C90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2371-3B2A-4579-A079-FC641A8A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E9F12"/>
                </a:solidFill>
              </a:defRPr>
            </a:pPr>
            <a:r>
              <a:rPr sz="2550" b="1">
                <a:solidFill>
                  <a:srgbClr val="6E9F12"/>
                </a:solidFill>
              </a:rPr>
              <a:t>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11292-F7E2-4EB3-AFB2-2630B02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A60"/>
                </a:solidFill>
              </a:defRPr>
            </a:pPr>
            <a:r>
              <a:rPr sz="900" b="1">
                <a:solidFill>
                  <a:srgbClr val="626A60"/>
                </a:solidFill>
              </a:rPr>
              <a:t>REPLAY MARKER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63D19-BE84-423D-B3AE-AF11DEEC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SEPOLIA PAYMENT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41EB4-C71C-451C-9976-4DA5F128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5 USDC · block 11,566,178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E9E37-3533-4BBC-8D72-601F7739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CREDITCOIN SETTLEMENT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50D3D-FE9C-4F9D-A764-E9A7BAFD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24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Status SETTLED · token 1001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76C94-CCF5-4778-9C58-BD4B8842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A60"/>
                </a:solidFill>
              </a:defRPr>
            </a:pPr>
            <a:r>
              <a:rPr sz="1125" b="0">
                <a:solidFill>
                  <a:srgbClr val="626A60"/>
                </a:solidFill>
              </a:rPr>
              <a:t>Query 0x4c94e8b1…d853e655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FF19D-D9C7-4FEB-B768-767F101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72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A60"/>
                </a:solidFill>
              </a:defRPr>
            </a:pPr>
            <a:r>
              <a:rPr sz="1125" b="0">
                <a:solidFill>
                  <a:srgbClr val="626A60"/>
                </a:solidFill>
              </a:rPr>
              <a:t>Tx 0xcf9dd953…56eff96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A2EC2-3707-4EA4-8081-4D721DFD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2BBF0-0AC9-4383-BBE4-392C116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5990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42A3B-76BA-43AA-A3F8-B24EF78D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765D-4121-4314-9055-1C87678A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57C84-D2A5-4DE3-829B-8C8F2F0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12D08-AB61-44F4-8F33-BB2AA5C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EE8D7-E539-48FA-AC5F-DB956F04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The protocol is already usable through a guided playground.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269E5-B85D-447E-87A2-062F4665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Builders can inspect the flow, open evidence, and integrate against documented contracts.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93b1c7f7d4b49"/>
          <a:srcRect xmlns:a="http://schemas.openxmlformats.org/drawingml/2006/main" l="2508" t="0" r="25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590800"/>
            <a:ext cx="7239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677C3-DDB3-4E0B-AA4B-36BAF9BF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EF1C"/>
                </a:solidFill>
              </a:defRPr>
            </a:pPr>
            <a:r>
              <a:rPr sz="1050" b="1">
                <a:solidFill>
                  <a:srgbClr val="A7EF1C"/>
                </a:solidFill>
              </a:rPr>
              <a:t>WHAT 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9D80F-A80E-48AD-9406-3B350BC2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B5BD4-A8C1-447D-AE84-B868BFDA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0"/>
                </a:solidFill>
              </a:defRPr>
            </a:pPr>
            <a:r>
              <a:rPr sz="1275" b="0">
                <a:solidFill>
                  <a:srgbClr val="111510"/>
                </a:solidFill>
              </a:rPr>
              <a:t>Wallet-free simulation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6A191-9A39-43A4-B6C0-64A9B58D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82029-19C0-4B7F-89CA-3DEC5E5D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0"/>
                </a:solidFill>
              </a:defRPr>
            </a:pPr>
            <a:r>
              <a:rPr sz="1275" b="0">
                <a:solidFill>
                  <a:srgbClr val="111510"/>
                </a:solidFill>
              </a:rPr>
              <a:t>Evidence links for each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7D2DC-B2F0-4E8A-809B-27402300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4F46E-99B2-4D04-B9BE-F6CDD9CA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0"/>
                </a:solidFill>
              </a:defRPr>
            </a:pPr>
            <a:r>
              <a:rPr sz="1275" b="0">
                <a:solidFill>
                  <a:srgbClr val="111510"/>
                </a:solidFill>
              </a:rPr>
              <a:t>API reference + ABI downloads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DE066-7CF1-42B6-B0BC-9586BF3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BF210-2CA0-4BAD-B4D1-15D06D1C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0"/>
                </a:solidFill>
              </a:defRPr>
            </a:pPr>
            <a:r>
              <a:rPr sz="1275" b="0">
                <a:solidFill>
                  <a:srgbClr val="111510"/>
                </a:solidFill>
              </a:rPr>
              <a:t>Typed errors and request IDs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0E238-B447-4DDA-BD33-9637118F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EF1C"/>
                </a:solidFill>
              </a:defRPr>
            </a:pPr>
            <a:r>
              <a:rPr sz="1350" b="1">
                <a:solidFill>
                  <a:srgbClr val="A7EF1C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EC8EA-C618-4CC5-A7AB-87BC6D4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10"/>
                </a:solidFill>
              </a:defRPr>
            </a:pPr>
            <a:r>
              <a:rPr sz="1275" b="0">
                <a:solidFill>
                  <a:srgbClr val="111510"/>
                </a:solidFill>
              </a:rPr>
              <a:t>Worker automation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4BE61D-B943-4C0F-9BFF-A038D50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49715-106C-46F7-A66E-45AB4A14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6476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3E266-4C3B-44BE-A431-45647DA6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D11DA-8267-469E-9FDB-8B3038C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F7A26-4C2B-4688-A110-A7FDEDC5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2C5E7-AB7F-4846-801E-19B2D750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FD56B-C0D9-4257-AC37-3203267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The stack is tested from contract to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BB591-7351-410F-916E-8E1705F4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The latest recorded audit verifies the deployed v3 path and its settlement invariants.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1D72E-D605-4CAE-A2B0-D8DC0064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2552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83D16-3D7F-4239-8737-B3450731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7EF1C"/>
                </a:solidFill>
              </a:defRPr>
            </a:pPr>
            <a:r>
              <a:rPr sz="2550" b="1">
                <a:solidFill>
                  <a:srgbClr val="A7EF1C"/>
                </a:solidFill>
              </a:rPr>
              <a:t>19 /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FA8B3-18DC-4701-8C2E-D17BEC0B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A60"/>
                </a:solidFill>
              </a:defRPr>
            </a:pPr>
            <a:r>
              <a:rPr sz="975" b="1">
                <a:solidFill>
                  <a:srgbClr val="626A60"/>
                </a:solidFill>
              </a:rPr>
              <a:t>APPLICATION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B6C27-0BB9-4F72-A88A-95E3819F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2552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53351-1176-4030-9DC5-2D3FDE76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7EF1C"/>
                </a:solidFill>
              </a:defRPr>
            </a:pPr>
            <a:r>
              <a:rPr sz="2550" b="1">
                <a:solidFill>
                  <a:srgbClr val="A7EF1C"/>
                </a:solidFill>
              </a:rPr>
              <a:t>9 /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910A9-9F4F-4A6F-B385-FFF6879E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A60"/>
                </a:solidFill>
              </a:defRPr>
            </a:pPr>
            <a:r>
              <a:rPr sz="975" b="1">
                <a:solidFill>
                  <a:srgbClr val="626A60"/>
                </a:solidFill>
              </a:rPr>
              <a:t>FOUNDRY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4BC62-2591-42F8-B54E-77DDDCC0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552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40C23-1557-43B2-AAE5-AD7B5151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7EF1C"/>
                </a:solidFill>
              </a:defRPr>
            </a:pPr>
            <a:r>
              <a:rPr sz="2550" b="1">
                <a:solidFill>
                  <a:srgbClr val="A7EF1C"/>
                </a:solidFill>
              </a:rPr>
              <a:t>256k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083A8-9C1B-4A1B-8F69-ECCA8003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A60"/>
                </a:solidFill>
              </a:defRPr>
            </a:pPr>
            <a:r>
              <a:rPr sz="975" b="1">
                <a:solidFill>
                  <a:srgbClr val="626A60"/>
                </a:solidFill>
              </a:rPr>
              <a:t>INVARIANT CALLS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F324F-88FF-40AA-83F1-3DFB02CE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552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12BED-12E2-482F-AAF0-EB027E01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7EF1C"/>
                </a:solidFill>
              </a:defRPr>
            </a:pPr>
            <a:r>
              <a:rPr sz="2550" b="1">
                <a:solidFill>
                  <a:srgbClr val="A7EF1C"/>
                </a:solidFill>
              </a:rPr>
              <a:t>CLEAN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E1DD0-EE78-457D-85EE-7193FBE6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A60"/>
                </a:solidFill>
              </a:defRPr>
            </a:pPr>
            <a:r>
              <a:rPr sz="975" b="1">
                <a:solidFill>
                  <a:srgbClr val="626A60"/>
                </a:solidFill>
              </a:rPr>
              <a:t>TYPECHECK + LINT +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FBD1F-33CE-426C-A4F8-9CF703CC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510"/>
                </a:solidFill>
              </a:defRPr>
            </a:pPr>
            <a:r>
              <a:rPr sz="1425" b="1">
                <a:solidFill>
                  <a:srgbClr val="111510"/>
                </a:solidFill>
              </a:rPr>
              <a:t>Security posture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A1179-1B19-4BEA-935A-D8BE17C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60"/>
                </a:solidFill>
              </a:defRPr>
            </a:pPr>
            <a:r>
              <a:rPr sz="1350" b="0">
                <a:solidFill>
                  <a:srgbClr val="626A60"/>
                </a:solidFill>
              </a:rPr>
              <a:t>Reentrancy finding resolved. Remaining Slither note is the intentional reclaim timestamp comparison.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D11C4-9A15-4630-8C9E-49CA38F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AA2DA-561D-43E0-9887-5F65D13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8880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37E4E-FE22-4E29-9943-DA8BE467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3F49-B015-4F07-B881-8746DCAA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ADOPTION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C3DBC-0CDA-4767-AC26-A06F5D14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0EF1F-62E4-4B37-907D-21AF3F1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6A302-B050-45E3-A47A-DA2D4816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Credo is a settlement layer—not a marketplace.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EB00A-607D-4E8D-8321-7D1AF380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The protocol owns truth; ecosystem products own discovery, pricing, compliance, and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551F1-0EE3-4D78-AF18-B1B5EB30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CREDO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277A8-B398-4DAC-9588-2AF1EEA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EF1C"/>
                </a:solidFill>
              </a:defRPr>
            </a:pPr>
            <a:r>
              <a:rPr sz="1200" b="1">
                <a:solidFill>
                  <a:srgbClr val="A7EF1C"/>
                </a:solidFill>
              </a:rPr>
              <a:t>BUILDER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E7474-A419-4E2C-8E9A-154DA636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Escrow + deterministic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76DBF-51F3-4565-B926-C224E358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Attestcoin 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0C35B-58C5-44EF-B7BD-FA823332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Payment-intent uniqueness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1B0B9-0700-4C08-A600-EE7852DC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Replay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8C773-3E65-4753-97D3-ADA755FD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Worker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27F3B-53AC-4759-AA3A-1D01B2EB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10"/>
                </a:solidFill>
              </a:defRPr>
            </a:pPr>
            <a:r>
              <a:rPr sz="1350" b="1">
                <a:solidFill>
                  <a:srgbClr val="111510"/>
                </a:solidFill>
              </a:rPr>
              <a:t>RWA marketplaces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15EE8-57BB-463C-8A37-2FE78A65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OTC and private sales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AAED9-E351-4060-B8E5-4B96A6A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Issuance + compliance apps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24473-12F1-44B7-94EB-BEED81FB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Portfolio and analytics products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38C77-4544-4C16-9B08-1862FB5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10"/>
                </a:solidFill>
              </a:defRPr>
            </a:pPr>
            <a:r>
              <a:rPr sz="1350" b="0">
                <a:solidFill>
                  <a:srgbClr val="111510"/>
                </a:solidFill>
              </a:rPr>
              <a:t>Any DvP-enabled experience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ACA24-0A3F-409C-B453-20EDA92E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0">
            <a:solidFill>
              <a:srgbClr val="A7EF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084514-2F63-466F-8AB5-58CCF7F5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C2A38-A225-4BB5-8D11-88CFAAD7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89035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9C6BA9-9320-45AB-800C-470B0703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505DD-B84A-4198-B372-D87D7510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6A60"/>
                </a:solidFill>
              </a:defRPr>
            </a:pPr>
            <a:r>
              <a:rPr sz="825" b="1">
                <a:solidFill>
                  <a:srgbClr val="626A60"/>
                </a:solidFill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227C2-88F0-4ACD-9D97-A91C3D11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94748-3521-4D49-928A-37B84C39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F1C"/>
                </a:solidFill>
              </a:defRPr>
            </a:pPr>
            <a:r>
              <a:rPr sz="1275" b="1">
                <a:solidFill>
                  <a:srgbClr val="A7EF1C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4CACC-61D3-4309-B9DB-1635FA21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510"/>
                </a:solidFill>
              </a:defRPr>
            </a:pPr>
            <a:r>
              <a:rPr sz="3150" b="1">
                <a:solidFill>
                  <a:srgbClr val="111510"/>
                </a:solidFill>
              </a:rPr>
              <a:t>Scale the primitive without weakening the trust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88704-02F6-403C-890A-CC671403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60"/>
                </a:solidFill>
              </a:defRPr>
            </a:pPr>
            <a:r>
              <a:rPr sz="1425" b="0">
                <a:solidFill>
                  <a:srgbClr val="626A60"/>
                </a:solidFill>
              </a:rPr>
              <a:t>The current testnet release is proven; the next phases expand access and asset coverage.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1D6EA-C457-466C-AC00-26A27065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0">
            <a:solidFill>
              <a:srgbClr val="A7EF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F4BB1-92C4-47CD-8BD3-B49EEEAB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EF1C"/>
                </a:solidFill>
              </a:defRPr>
            </a:pPr>
            <a:r>
              <a:rPr sz="975" b="1">
                <a:solidFill>
                  <a:srgbClr val="A7EF1C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FA710-DEB6-4719-B165-01793A7A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SETTLEMENT PRIMITIVE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36DC1-7B90-42EC-8850-8EDD3F3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Shipped on CC3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58B2F-CD59-427C-983B-4FC23ED6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4588A-E8E2-4943-B1B6-B0C54F13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5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A60"/>
                </a:solidFill>
              </a:defRPr>
            </a:pPr>
            <a:r>
              <a:rPr sz="975" b="1">
                <a:solidFill>
                  <a:srgbClr val="626A60"/>
                </a:solidFill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CDA84-7CDA-481D-8B47-2ADC5BA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RESERVATIONS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A3AAF-812F-4B0C-BDC1-BF9CA4D7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Remove double-buyer 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4D77E-82B6-44BA-AA0E-1280BE23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D474F-2681-466F-A56B-DB5A42F4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A60"/>
                </a:solidFill>
              </a:defRPr>
            </a:pPr>
            <a:r>
              <a:rPr sz="975" b="1">
                <a:solidFill>
                  <a:srgbClr val="626A60"/>
                </a:solidFill>
              </a:rPr>
              <a:t>THEN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8933F-7939-43CD-8686-B4C2A50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ASSET ADAPTERS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1F057-697F-4C4A-A29B-3E8A7C1F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33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ERC-20 / 721 / 3643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14725-5DD5-4093-90BC-79ACC63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5"/>
          </a:solidFill>
          <a:ln xmlns:a="http://schemas.openxmlformats.org/drawingml/2006/main" w="0">
            <a:solidFill>
              <a:srgbClr val="D8D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474EF-5635-45F7-8B37-C2C7D5DB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052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A60"/>
                </a:solidFill>
              </a:defRPr>
            </a:pPr>
            <a:r>
              <a:rPr sz="975" b="1">
                <a:solidFill>
                  <a:srgbClr val="626A60"/>
                </a:solidFill>
              </a:rPr>
              <a:t>LATER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100BD-F0CF-49A1-81F4-6FE6ED43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0"/>
                </a:solidFill>
              </a:defRPr>
            </a:pPr>
            <a:r>
              <a:rPr sz="1500" b="1">
                <a:solidFill>
                  <a:srgbClr val="111510"/>
                </a:solidFill>
              </a:rPr>
              <a:t>TWO-WAY DVP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075B0-E2BE-4399-BEF1-59A9E4C0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33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A60"/>
                </a:solidFill>
              </a:defRPr>
            </a:pPr>
            <a:r>
              <a:rPr sz="1200" b="0">
                <a:solidFill>
                  <a:srgbClr val="626A60"/>
                </a:solidFill>
              </a:rPr>
              <a:t>Requires reverse write-back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4E2E9-E80B-47E3-807E-105024F4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95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140F"/>
          </a:solidFill>
          <a:ln xmlns:a="http://schemas.openxmlformats.org/drawingml/2006/main" w="9525">
            <a:solidFill>
              <a:srgbClr val="5144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BACAF-1F5C-4759-8644-7C5FEEB9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38A"/>
                </a:solidFill>
              </a:defRPr>
            </a:pPr>
            <a:r>
              <a:rPr sz="1200" b="1">
                <a:solidFill>
                  <a:srgbClr val="F1D38A"/>
                </a:solidFill>
              </a:rPr>
              <a:t>HONEST LIMIT: payment is irreversible before Creditcoin release; this is proof-triggered settlement, not an atomic two-chain swap.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9C3FC-C539-4DD6-8669-191074C9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35D06-D8CA-48C8-A678-62A5EA6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677833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f47826c024dd8"/>
          <a:stretch xmlns:a="http://schemas.openxmlformats.org/drawingml/2006/main"/>
        </p:blipFill>
        <p:spPr>
          <a:xfrm xmlns:a="http://schemas.openxmlformats.org/drawingml/2006/main">
            <a:off x="5657850" y="1022350"/>
            <a:ext cx="876300" cy="584200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C7853-7940-41AD-A858-F2744968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14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7EF1C"/>
                </a:solidFill>
              </a:defRPr>
            </a:pPr>
            <a:r>
              <a:rPr sz="1650" b="1">
                <a:solidFill>
                  <a:srgbClr val="A7EF1C"/>
                </a:solidFill>
              </a:rPr>
              <a:t>CREDO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5A9CA-123A-4F03-9E4D-792D01D3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800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510"/>
                </a:solidFill>
              </a:defRPr>
            </a:pPr>
            <a:r>
              <a:rPr sz="4050" b="1">
                <a:solidFill>
                  <a:srgbClr val="111510"/>
                </a:solidFill>
              </a:rPr>
              <a:t>Proof crosses.</a:t>
            </a:r>
          </a:p>
          <a:p xmlns:a="http://schemas.openxmlformats.org/drawingml/2006/main">
            <a:pPr algn="ctr">
              <a:defRPr sz="4050" b="1">
                <a:solidFill>
                  <a:srgbClr val="111510"/>
                </a:solidFill>
              </a:defRPr>
            </a:pPr>
            <a:r>
              <a:rPr sz="4050" b="1">
                <a:solidFill>
                  <a:srgbClr val="111510"/>
                </a:solidFill>
              </a:rPr>
              <a:t>Ownership moves.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F1771-BDB4-47A2-A7E0-3098C16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A60"/>
                </a:solidFill>
              </a:defRPr>
            </a:pPr>
            <a:r>
              <a:rPr sz="1500" b="0">
                <a:solidFill>
                  <a:srgbClr val="626A60"/>
                </a:solidFill>
              </a:rPr>
              <a:t>No bridge. No wrapped USDC. No trusted worker.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6E5F5-F31F-47D6-98F3-241300AF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720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F1C"/>
          </a:solidFill>
          <a:ln xmlns:a="http://schemas.openxmlformats.org/drawingml/2006/main" w="0">
            <a:solidFill>
              <a:srgbClr val="A7EF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DC45C-5C60-4794-809C-9D21A3C5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510"/>
                </a:solidFill>
              </a:defRPr>
            </a:pPr>
            <a:r>
              <a:rPr sz="1425" b="1">
                <a:solidFill>
                  <a:srgbClr val="111510"/>
                </a:solidFill>
              </a:rPr>
              <a:t>Build on the settlement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D249-09DF-4CB2-A993-0148580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38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26A60"/>
                </a:solidFill>
              </a:defRPr>
            </a:pPr>
            <a:r>
              <a:rPr sz="1125" b="0">
                <a:solidFill>
                  <a:srgbClr val="626A60"/>
                </a:solidFill>
              </a:rPr>
              <a:t>GitHub · Live playground · Testnet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09D2C-D4BF-4389-BE08-2DCA73BA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A60"/>
                </a:solidFill>
              </a:defRPr>
            </a:pPr>
            <a:r>
              <a:rPr sz="750" b="0">
                <a:solidFill>
                  <a:srgbClr val="626A60"/>
                </a:solidFill>
              </a:rPr>
              <a:t>BUIDL CTC 2026 · RWA TRACK · CREDITCOIN × ATTESTCOIN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3F6E3-434F-4F3C-BF07-71AF9C59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A60"/>
                </a:solidFill>
              </a:defRPr>
            </a:pPr>
            <a:r>
              <a:rPr sz="750" b="1">
                <a:solidFill>
                  <a:srgbClr val="626A6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486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2026-08-26T12:58:21.3360000Z</dcterms:created>
  <dcterms:modified xsi:type="dcterms:W3CDTF">2026-08-26T12:58:21.3360000Z</dcterms:modified>
</coreProperties>
</file>