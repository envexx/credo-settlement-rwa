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921170ba8da4ae6" /><Relationship Type="http://schemas.openxmlformats.org/officeDocument/2006/relationships/extended-properties" Target="/docProps/app.xml" Id="R5818f4f2def04913" /><Relationship Type="http://schemas.openxmlformats.org/officeDocument/2006/relationships/officeDocument" Target="/ppt/presentation.xml" Id="R22b79b946617432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60e9d2c792b4608"/>
  </p:sldMasterIdLst>
  <p:notesMasterIdLst>
    <p:notesMasterId xmlns:r="http://schemas.openxmlformats.org/officeDocument/2006/relationships" r:id="R0c38560bcdda45b8"/>
  </p:notesMasterIdLst>
  <p:sldIdLst>
    <p:sldId xmlns:r="http://schemas.openxmlformats.org/officeDocument/2006/relationships" id="256" r:id="R52b6f8e031564d01"/>
    <p:sldId xmlns:r="http://schemas.openxmlformats.org/officeDocument/2006/relationships" id="257" r:id="Rb5781f462e6f4eac"/>
    <p:sldId xmlns:r="http://schemas.openxmlformats.org/officeDocument/2006/relationships" id="258" r:id="Rc90a19988df74402"/>
    <p:sldId xmlns:r="http://schemas.openxmlformats.org/officeDocument/2006/relationships" id="259" r:id="R43bc1e3689e544a6"/>
    <p:sldId xmlns:r="http://schemas.openxmlformats.org/officeDocument/2006/relationships" id="260" r:id="Rd91154c4d19b4359"/>
    <p:sldId xmlns:r="http://schemas.openxmlformats.org/officeDocument/2006/relationships" id="261" r:id="Radefb1826c4745da"/>
    <p:sldId xmlns:r="http://schemas.openxmlformats.org/officeDocument/2006/relationships" id="262" r:id="R5872e81efa9a4f2c"/>
    <p:sldId xmlns:r="http://schemas.openxmlformats.org/officeDocument/2006/relationships" id="263" r:id="R0780f471bf034bca"/>
    <p:sldId xmlns:r="http://schemas.openxmlformats.org/officeDocument/2006/relationships" id="264" r:id="Rac09a94b261945ad"/>
    <p:sldId xmlns:r="http://schemas.openxmlformats.org/officeDocument/2006/relationships" id="265" r:id="Rb492e90490624866"/>
    <p:sldId xmlns:r="http://schemas.openxmlformats.org/officeDocument/2006/relationships" id="266" r:id="R18514185b60148ec"/>
    <p:sldId xmlns:r="http://schemas.openxmlformats.org/officeDocument/2006/relationships" id="267" r:id="R70d2d034a64c492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b85f3e55ea4dd6" /><Relationship Type="http://schemas.openxmlformats.org/officeDocument/2006/relationships/slideMaster" Target="/ppt/slideMasters/slideMaster1.xml" Id="R160e9d2c792b4608" /><Relationship Type="http://schemas.openxmlformats.org/officeDocument/2006/relationships/notesMaster" Target="/ppt/notesMasters/notesMaster1.xml" Id="R0c38560bcdda45b8" /><Relationship Type="http://schemas.openxmlformats.org/officeDocument/2006/relationships/presProps" Target="/ppt/presProps.xml" Id="R1d4b0d6181c94ec2" /><Relationship Type="http://schemas.openxmlformats.org/officeDocument/2006/relationships/tableStyles" Target="/ppt/tableStyles.xml" Id="Re215e0dffc1c4a1c" /><Relationship Type="http://schemas.openxmlformats.org/officeDocument/2006/relationships/slide" Target="/ppt/slides/slide1.xml" Id="R52b6f8e031564d01" /><Relationship Type="http://schemas.openxmlformats.org/officeDocument/2006/relationships/slide" Target="/ppt/slides/slide2.xml" Id="Rb5781f462e6f4eac" /><Relationship Type="http://schemas.openxmlformats.org/officeDocument/2006/relationships/slide" Target="/ppt/slides/slide3.xml" Id="Rc90a19988df74402" /><Relationship Type="http://schemas.openxmlformats.org/officeDocument/2006/relationships/slide" Target="/ppt/slides/slide4.xml" Id="R43bc1e3689e544a6" /><Relationship Type="http://schemas.openxmlformats.org/officeDocument/2006/relationships/slide" Target="/ppt/slides/slide5.xml" Id="Rd91154c4d19b4359" /><Relationship Type="http://schemas.openxmlformats.org/officeDocument/2006/relationships/slide" Target="/ppt/slides/slide6.xml" Id="Radefb1826c4745da" /><Relationship Type="http://schemas.openxmlformats.org/officeDocument/2006/relationships/slide" Target="/ppt/slides/slide7.xml" Id="R5872e81efa9a4f2c" /><Relationship Type="http://schemas.openxmlformats.org/officeDocument/2006/relationships/slide" Target="/ppt/slides/slide8.xml" Id="R0780f471bf034bca" /><Relationship Type="http://schemas.openxmlformats.org/officeDocument/2006/relationships/slide" Target="/ppt/slides/slide9.xml" Id="Rac09a94b261945ad" /><Relationship Type="http://schemas.openxmlformats.org/officeDocument/2006/relationships/slide" Target="/ppt/slides/slide10.xml" Id="Rb492e90490624866" /><Relationship Type="http://schemas.openxmlformats.org/officeDocument/2006/relationships/slide" Target="/ppt/slides/slide11.xml" Id="R18514185b60148ec" /><Relationship Type="http://schemas.openxmlformats.org/officeDocument/2006/relationships/slide" Target="/ppt/slides/slide12.xml" Id="R70d2d034a64c49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65b81378e1c4e6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d11f28ee464115" /><Relationship Type="http://schemas.openxmlformats.org/officeDocument/2006/relationships/notesMaster" Target="/ppt/notesMasters/notesMaster1.xml" Id="R1251c88ade3547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c6fcfc38f7447f" /><Relationship Type="http://schemas.openxmlformats.org/officeDocument/2006/relationships/notesMaster" Target="/ppt/notesMasters/notesMaster1.xml" Id="R799cb522a73d4c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6b9bdc88724801" /><Relationship Type="http://schemas.openxmlformats.org/officeDocument/2006/relationships/notesMaster" Target="/ppt/notesMasters/notesMaster1.xml" Id="Re87aa79975ab43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805fa3874b94eef" /><Relationship Type="http://schemas.openxmlformats.org/officeDocument/2006/relationships/notesMaster" Target="/ppt/notesMasters/notesMaster1.xml" Id="Rde753d4bdddb49a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88e7d08c8a40e5" /><Relationship Type="http://schemas.openxmlformats.org/officeDocument/2006/relationships/notesMaster" Target="/ppt/notesMasters/notesMaster1.xml" Id="R5581d82691004c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78c0f0cb774328" /><Relationship Type="http://schemas.openxmlformats.org/officeDocument/2006/relationships/notesMaster" Target="/ppt/notesMasters/notesMaster1.xml" Id="Ra55c28456121421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d8eb5d3bcc44185" /><Relationship Type="http://schemas.openxmlformats.org/officeDocument/2006/relationships/notesMaster" Target="/ppt/notesMasters/notesMaster1.xml" Id="R725a6fd61c4e421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a0e9deb0af34275" /><Relationship Type="http://schemas.openxmlformats.org/officeDocument/2006/relationships/notesMaster" Target="/ppt/notesMasters/notesMaster1.xml" Id="Rc3b8fe051c4e4d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7f01b1594c04c44" /><Relationship Type="http://schemas.openxmlformats.org/officeDocument/2006/relationships/notesMaster" Target="/ppt/notesMasters/notesMaster1.xml" Id="Rb16ad4f333404c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b59c3d4592416b" /><Relationship Type="http://schemas.openxmlformats.org/officeDocument/2006/relationships/notesMaster" Target="/ppt/notesMasters/notesMaster1.xml" Id="Rcd26646bda5047c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f4e9550a28b41ad" /><Relationship Type="http://schemas.openxmlformats.org/officeDocument/2006/relationships/notesMaster" Target="/ppt/notesMasters/notesMaster1.xml" Id="Re2f1f0f01726476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a932768daa44ece" /><Relationship Type="http://schemas.openxmlformats.org/officeDocument/2006/relationships/notesMaster" Target="/ppt/notesMasters/notesMaster1.xml" Id="R7d0f64401a9a4c8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 positioning and architecture: repository README and docs evidence.</a:t>
            </a:r>
          </a:p>
          <a:p xmlns:a="http://schemas.openxmlformats.org/drawingml/2006/main">
            <a:r>
              <a:t>- Product screenshot: dogfood-output/screenshots/landing-3d-final.png.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slides 2–3.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docs/evidence/payment/sepolia-tx.json.</a:t>
            </a:r>
          </a:p>
          <a:p xmlns:a="http://schemas.openxmlformats.org/drawingml/2006/main">
            <a:r>
              <a:t>- docs/evidence/settlement/creditcoin-tx.json.</a:t>
            </a:r>
          </a:p>
          <a:p xmlns:a="http://schemas.openxmlformats.org/drawingml/2006/main">
            <a:r>
              <a:t>- docs/evidence/contracts/addresses.json.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contracts/src/SettleRWA.sol.</a:t>
            </a:r>
          </a:p>
          <a:p xmlns:a="http://schemas.openxmlformats.org/drawingml/2006/main">
            <a:r>
              <a:t>- contracts/src/PaymentVerifierUSC.sol.</a:t>
            </a:r>
          </a:p>
          <a:p xmlns:a="http://schemas.openxmlformats.org/drawingml/2006/main">
            <a:r>
              <a:t>- worker/ implementation and USC SDK integration.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contracts/src/PaymentVerifierUSC.sol.</a:t>
            </a:r>
          </a:p>
          <a:p xmlns:a="http://schemas.openxmlformats.org/drawingml/2006/main">
            <a:r>
              <a:t>- docs/threat-model/README.md.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docs/threat-model/README.md.</a:t>
            </a:r>
          </a:p>
          <a:p xmlns:a="http://schemas.openxmlformats.org/drawingml/2006/main">
            <a:r>
              <a:t>- docs/evidence/security/slither.md.</a:t>
            </a:r>
          </a:p>
          <a:p xmlns:a="http://schemas.openxmlformats.org/drawingml/2006/main">
            <a:r>
              <a:t>- contracts/src/SettleRWA.sol.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docs/evidence/payment/sepolia-tx.json.</a:t>
            </a:r>
          </a:p>
          <a:p xmlns:a="http://schemas.openxmlformats.org/drawingml/2006/main">
            <a:r>
              <a:t>- docs/evidence/attestcoin/proof-run.json.</a:t>
            </a:r>
          </a:p>
          <a:p xmlns:a="http://schemas.openxmlformats.org/drawingml/2006/main">
            <a:r>
              <a:t>- docs/evidence/settlement/creditcoin-tx.json.</a:t>
            </a:r>
          </a:p>
          <a:p xmlns:a="http://schemas.openxmlformats.org/drawingml/2006/main">
            <a:r>
              <a:t>- docs/evidence/rwa/after.json.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dogfood-output/screenshots/playground-desktop.png.</a:t>
            </a:r>
          </a:p>
          <a:p xmlns:a="http://schemas.openxmlformats.org/drawingml/2006/main">
            <a:r>
              <a:t>- docs/TDD-AUDIT.md.</a:t>
            </a:r>
          </a:p>
          <a:p xmlns:a="http://schemas.openxmlformats.org/drawingml/2006/main">
            <a:r>
              <a:t>- In-app documentation under /infra.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docs/TDD-AUDIT.md, re-audit sessions 3–4.</a:t>
            </a:r>
          </a:p>
          <a:p xmlns:a="http://schemas.openxmlformats.org/drawingml/2006/main">
            <a:r>
              <a:t>- docs/evidence/security/slither.md.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 9.</a:t>
            </a:r>
          </a:p>
          <a:p xmlns:a="http://schemas.openxmlformats.org/drawingml/2006/main">
            <a:r>
              <a:t>- docs/INFRA-WORKPLAN.md.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docs/submission/credo-deck.pdf, source slides 10–11.</a:t>
            </a:r>
          </a:p>
          <a:p xmlns:a="http://schemas.openxmlformats.org/drawingml/2006/main">
            <a:r>
              <a:t>- docs/TDD-AUDIT.md, open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 root and docs/evidence directory.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8f624702fa461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8c3dbb1bed4adb" /><Relationship Type="http://schemas.openxmlformats.org/officeDocument/2006/relationships/slideLayout" Target="/ppt/slideLayouts/slideLayout1.xml" Id="Rd6d7278e5b7c460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6d7278e5b7c460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f1b92c657a4d62" /><Relationship Type="http://schemas.openxmlformats.org/officeDocument/2006/relationships/image" Target="/ppt/media/image.png" Id="R8f096fb890e547f6" /><Relationship Type="http://schemas.openxmlformats.org/officeDocument/2006/relationships/image" Target="/ppt/media/image2.png" Id="Rb35f75ab2753428c" /><Relationship Type="http://schemas.openxmlformats.org/officeDocument/2006/relationships/notesSlide" Target="/ppt/notesSlides/notesSlide1.xml" Id="Rcd91f6215b2a44e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53cd6837e4a70" /><Relationship Type="http://schemas.openxmlformats.org/officeDocument/2006/relationships/notesSlide" Target="/ppt/notesSlides/notesSlide2.xml" Id="Rdd0ecce8d10c4a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f36e424a14353" /><Relationship Type="http://schemas.openxmlformats.org/officeDocument/2006/relationships/notesSlide" Target="/ppt/notesSlides/notesSlide3.xml" Id="R68629df08f5f4c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49d57c1bb4a18" /><Relationship Type="http://schemas.openxmlformats.org/officeDocument/2006/relationships/notesSlide" Target="/ppt/notesSlides/notesSlide4.xml" Id="R57ce1a22e46c4cc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53686d022440a" /><Relationship Type="http://schemas.openxmlformats.org/officeDocument/2006/relationships/notesSlide" Target="/ppt/notesSlides/notesSlide5.xml" Id="R6c08ff649aff4b7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577177890a4738" /><Relationship Type="http://schemas.openxmlformats.org/officeDocument/2006/relationships/notesSlide" Target="/ppt/notesSlides/notesSlide6.xml" Id="R8a5c926daeb946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3111b2ea547b9" /><Relationship Type="http://schemas.openxmlformats.org/officeDocument/2006/relationships/notesSlide" Target="/ppt/notesSlides/notesSlide7.xml" Id="R0a0021f77aa049e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abd269930436d" /><Relationship Type="http://schemas.openxmlformats.org/officeDocument/2006/relationships/image" Target="/ppt/media/image3.png" Id="R2ef9fc0714554dde" /><Relationship Type="http://schemas.openxmlformats.org/officeDocument/2006/relationships/notesSlide" Target="/ppt/notesSlides/notesSlide8.xml" Id="R666dfc47c04a4d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367a83fa6144a9" /><Relationship Type="http://schemas.openxmlformats.org/officeDocument/2006/relationships/notesSlide" Target="/ppt/notesSlides/notesSlide9.xml" Id="Rbf551695b18043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5ff74cd724013" /><Relationship Type="http://schemas.openxmlformats.org/officeDocument/2006/relationships/notesSlide" Target="/ppt/notesSlides/notesSlide10.xml" Id="R472aa0a7706244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557ea9e18047e6" /><Relationship Type="http://schemas.openxmlformats.org/officeDocument/2006/relationships/notesSlide" Target="/ppt/notesSlides/notesSlide11.xml" Id="Rd9cc32786ceb454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979f9a66841f6" /><Relationship Type="http://schemas.openxmlformats.org/officeDocument/2006/relationships/image" Target="/ppt/media/image4.png" Id="R61cd562ef2164f2b" /><Relationship Type="http://schemas.openxmlformats.org/officeDocument/2006/relationships/notesSlide" Target="/ppt/notesSlides/notesSlide12.xml" Id="R805fdd3e0004455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96fb890e547f6"/>
          <a:stretch xmlns:a="http://schemas.openxmlformats.org/drawingml/2006/main"/>
        </p:blipFill>
        <p:spPr>
          <a:xfrm xmlns:a="http://schemas.openxmlformats.org/drawingml/2006/main">
            <a:off x="609600" y="746125"/>
            <a:ext cx="819150" cy="546100"/>
          </a:xfrm>
          <a:prstGeom xmlns:a="http://schemas.openxmlformats.org/drawingml/2006/main" prst="roundRect">
            <a:avLst>
              <a:gd name="adj" fmla="val 1395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8E4EF8-03B7-4D95-82BF-85336BAB8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A7EF1C"/>
                </a:solidFill>
              </a:defRPr>
            </a:pPr>
            <a:r>
              <a:rPr sz="1950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72AD6E-D801-4268-A5AB-3C67F5FA5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6477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11510"/>
                </a:solidFill>
              </a:defRPr>
            </a:pPr>
            <a:r>
              <a:rPr sz="4350" b="1">
                <a:solidFill>
                  <a:srgbClr val="111510"/>
                </a:solidFill>
              </a:rPr>
              <a:t>Move ownership with</a:t>
            </a:r>
          </a:p>
          <a:p xmlns:a="http://schemas.openxmlformats.org/drawingml/2006/main">
            <a:pPr algn="l">
              <a:defRPr sz="4350" b="1">
                <a:solidFill>
                  <a:srgbClr val="111510"/>
                </a:solidFill>
              </a:defRPr>
            </a:pPr>
            <a:r>
              <a:rPr sz="4350" b="1">
                <a:solidFill>
                  <a:srgbClr val="111510"/>
                </a:solidFill>
              </a:rPr>
              <a:t>verifiable payment.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E75668-B771-432D-83D2-10BDE31D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657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26A60"/>
                </a:solidFill>
              </a:defRPr>
            </a:pPr>
            <a:r>
              <a:rPr sz="1725" b="0">
                <a:solidFill>
                  <a:srgbClr val="626A60"/>
                </a:solidFill>
              </a:rPr>
              <a:t>USDC stays final on Ethereum. The RWA stays native on Creditcoin. Only cryptographic proof crosses chains.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68782-BB65-4A0F-AA6B-0D1E2D4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429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18183-C660-4D33-83F9-075E64D5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11510"/>
                </a:solidFill>
              </a:defRPr>
            </a:pPr>
            <a:r>
              <a:rPr sz="1275" b="1">
                <a:solidFill>
                  <a:srgbClr val="111510"/>
                </a:solidFill>
              </a:rPr>
              <a:t>Proof-triggered RWA settlement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5f75ab2753428c"/>
          <a:stretch xmlns:a="http://schemas.openxmlformats.org/drawingml/2006/main"/>
        </p:blipFill>
        <p:spPr>
          <a:xfrm xmlns:a="http://schemas.openxmlformats.org/drawingml/2006/main">
            <a:off x="7410450" y="1759744"/>
            <a:ext cx="4286250" cy="2976563"/>
          </a:xfrm>
          <a:prstGeom xmlns:a="http://schemas.openxmlformats.org/drawingml/2006/main" prst="roundRect">
            <a:avLst>
              <a:gd name="adj" fmla="val 2667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937FF-E077-4A28-97B9-16A6F1C1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F2A79F-D842-4714-9066-6D3486C8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20190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12D72F-6521-449C-B018-636E3E98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A8B0B3-42C5-4F08-A6E0-0539B296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THE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864D44-33A6-42FA-A3DA-EC233CD3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E3F078-C522-46FB-A244-66EAC629B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D5D9A4-6921-4F16-B88E-38F5B5AED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Cross-chain RWA settlement breaks at the trust boundary.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02C27-71D5-4AFD-BFD9-74FC082F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Payments may be final, yet delivery still depends on bridges, wrappers, or privileged operators.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0980-C03C-4864-92F1-B8F0A356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D358E8-9F68-44EA-94D3-1F4D4F0D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241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BRIDGE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BED262-D170-4720-A403-AF9839EC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7241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60"/>
                </a:solidFill>
              </a:defRPr>
            </a:pPr>
            <a:r>
              <a:rPr sz="1350" b="0">
                <a:solidFill>
                  <a:srgbClr val="626A60"/>
                </a:solidFill>
              </a:rPr>
              <a:t>Final USDC becomes wrapped exposure.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F7C5D-8380-4DCC-949F-9336602E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4802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45AE3-A76A-4DAD-A431-4BFBC314C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AA5CFA-6E24-4485-B2E3-59227B112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5052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ORACLE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C30A57-C1FD-46CB-BB94-AF635387C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052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60"/>
                </a:solidFill>
              </a:defRPr>
            </a:pPr>
            <a:r>
              <a:rPr sz="1350" b="0">
                <a:solidFill>
                  <a:srgbClr val="626A60"/>
                </a:solidFill>
              </a:rPr>
              <a:t>A backend assertion replaces cryptographic evidence.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44F31A-1917-49B3-903D-9C765E7B1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2907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AA0194-5E6E-435E-90FF-A43C6C4F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FDF66D-1F6E-4C50-A706-4B3D4AEA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862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OPERATOR POWER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ED3F4E-1E3C-42A8-99ED-C8B83C4F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862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60"/>
                </a:solidFill>
              </a:defRPr>
            </a:pPr>
            <a:r>
              <a:rPr sz="1350" b="0">
                <a:solidFill>
                  <a:srgbClr val="626A60"/>
                </a:solidFill>
              </a:rPr>
              <a:t>One compromised key can redirect settlement.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8DC9BE-34A8-496C-8C30-70F0FA27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012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BD1AF-3744-4B0F-8542-58D2568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99D61-F959-4641-B8C3-986FFAEE4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WEAK BINDING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7A68D1-1026-45E6-83DB-FE54861C2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0673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60"/>
                </a:solidFill>
              </a:defRPr>
            </a:pPr>
            <a:r>
              <a:rPr sz="1350" b="0">
                <a:solidFill>
                  <a:srgbClr val="626A60"/>
                </a:solidFill>
              </a:rPr>
              <a:t>A payment can settle the wrong buyer, asset, amount, or window.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B017CB-CAC3-4C0A-AA76-4354342C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91175"/>
            <a:ext cx="9620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A06E5C-0A3D-441E-94B2-F64A14F6A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8C24A0-EE1A-4609-A356-6C12B9DC9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849105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810A1F-983E-45A2-8DC1-97804DCFD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06088-3520-48E3-8A46-63DDD657C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THE ANSWER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4E8613-9CF0-4096-9C6E-6F4CE901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6254C-D4E5-45AA-881A-6B006E86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42A39D-C8EE-4BDB-9CE4-9D0478B4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Move proof—not money or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4AC01-61EB-4B25-B844-AF96296A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Credo separates what must remain native from what must cross.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C39083-7BA0-42EB-A237-3BBBB400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4F0D2-C08A-4FB3-93DE-7D4471D4D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E9F12"/>
                </a:solidFill>
              </a:defRPr>
            </a:pPr>
            <a:r>
              <a:rPr sz="975" b="1">
                <a:solidFill>
                  <a:srgbClr val="6E9F12"/>
                </a:solidFill>
              </a:rPr>
              <a:t>PAYMENT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18E07-DA05-4A4E-BCDA-A926DFEDD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510"/>
                </a:solidFill>
              </a:defRPr>
            </a:pPr>
            <a:r>
              <a:rPr sz="1800" b="1">
                <a:solidFill>
                  <a:srgbClr val="111510"/>
                </a:solidFill>
              </a:rPr>
              <a:t>ETHEREUM SEPOLIA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CDD6F-9195-430D-8550-95B01D54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A60"/>
                </a:solidFill>
              </a:defRPr>
            </a:pPr>
            <a:r>
              <a:rPr sz="1500" b="0">
                <a:solidFill>
                  <a:srgbClr val="626A60"/>
                </a:solidFill>
              </a:rPr>
              <a:t>USDC stays final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1104D-A3F2-427B-BA58-00E729380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03E7E1-D3F7-4FCD-A5AD-A476128A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510"/>
                </a:solidFill>
              </a:defRPr>
            </a:pPr>
            <a:r>
              <a:rPr sz="1125" b="1">
                <a:solidFill>
                  <a:srgbClr val="111510"/>
                </a:solidFill>
              </a:rPr>
              <a:t>NO BRIDGE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EB6C78-3F6B-4822-8C5C-F045067D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EFFBD7"/>
          </a:solidFill>
          <a:ln xmlns:a="http://schemas.openxmlformats.org/drawingml/2006/main" w="9525">
            <a:solidFill>
              <a:srgbClr val="85C90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3ABD1C-415A-4D29-BFF4-648C08DA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E9F12"/>
                </a:solidFill>
              </a:defRPr>
            </a:pPr>
            <a:r>
              <a:rPr sz="975" b="1">
                <a:solidFill>
                  <a:srgbClr val="6E9F12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C4108-6F4C-4704-97FF-BC83AB12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510"/>
                </a:solidFill>
              </a:defRPr>
            </a:pPr>
            <a:r>
              <a:rPr sz="1800" b="1">
                <a:solidFill>
                  <a:srgbClr val="111510"/>
                </a:solidFill>
              </a:rPr>
              <a:t>ATTESTCOIN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BA6E23-1826-4964-95A3-40A03E1E7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A60"/>
                </a:solidFill>
              </a:defRPr>
            </a:pPr>
            <a:r>
              <a:rPr sz="1500" b="0">
                <a:solidFill>
                  <a:srgbClr val="626A60"/>
                </a:solidFill>
              </a:rPr>
              <a:t>Receipt + continuity proof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6E57A1-A772-4D0E-AC7B-99F59B7A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FBABB9-70D4-4519-BED4-FCE6773B2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510"/>
                </a:solidFill>
              </a:defRPr>
            </a:pPr>
            <a:r>
              <a:rPr sz="1125" b="1">
                <a:solidFill>
                  <a:srgbClr val="111510"/>
                </a:solidFill>
              </a:rPr>
              <a:t>ONLY THIS CROSSES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4AE2F9-2027-40F1-AC34-0074326A3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429000" cy="25717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EA084-D312-481B-AC7A-55AB6982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718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E9F12"/>
                </a:solidFill>
              </a:defRPr>
            </a:pPr>
            <a:r>
              <a:rPr sz="975" b="1">
                <a:solidFill>
                  <a:srgbClr val="6E9F12"/>
                </a:solidFill>
              </a:rPr>
              <a:t>OWNERSHIP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1ECBC7-3030-45F4-82EF-258DF735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352800"/>
            <a:ext cx="2905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510"/>
                </a:solidFill>
              </a:defRPr>
            </a:pPr>
            <a:r>
              <a:rPr sz="1800" b="1">
                <a:solidFill>
                  <a:srgbClr val="111510"/>
                </a:solidFill>
              </a:rPr>
              <a:t>CREDITCOIN CC3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BEE681-A427-4610-AD99-4BAEBD5C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67150"/>
            <a:ext cx="2905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26A60"/>
                </a:solidFill>
              </a:defRPr>
            </a:pPr>
            <a:r>
              <a:rPr sz="1500" b="0">
                <a:solidFill>
                  <a:srgbClr val="626A60"/>
                </a:solidFill>
              </a:rPr>
              <a:t>ERC-1155 changes owner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946CFC-CC65-4D9B-82E7-A8505ED40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900409-3F0F-4BB9-9F9D-461ACA154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510"/>
                </a:solidFill>
              </a:defRPr>
            </a:pPr>
            <a:r>
              <a:rPr sz="1125" b="1">
                <a:solidFill>
                  <a:srgbClr val="111510"/>
                </a:solidFill>
              </a:rPr>
              <a:t>CONTRACT DECIDES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E8D029-9E43-41C7-BDDB-A69276288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438763-D330-4612-9F78-AE94EDD45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8286846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FE69E1C-7E48-4078-BEA1-EA60D399E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5376B-A75F-4039-BA69-9A077019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MECHANISM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3A0FFF-35E5-4216-B1F5-2C618F75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E04181-8408-483E-9DCE-32536B21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184E7-335B-4FBC-BB08-B924DB13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One payment. One proof. One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BDAB18-D97A-470C-A69A-BF39A039A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The worker observes; Attestcoin proves; the contract owns the decision.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6E2324-2ABA-4DA9-8835-25C003A2C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9620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88D7BB-7CAB-4C69-A945-D40E83B08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5F0"/>
          </a:solidFill>
          <a:ln xmlns:a="http://schemas.openxmlformats.org/drawingml/2006/main" w="28575">
            <a:solidFill>
              <a:srgbClr val="A7EF1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24098-AD7D-419D-A399-2F0E1F73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535D55-B66E-4FE9-89A3-6F63B3046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SELLER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B122AF-3342-440D-9393-09AB6A1F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Escrows ERC-1155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2CAF7-0413-48F0-A8C4-1808B262E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5F0"/>
          </a:solidFill>
          <a:ln xmlns:a="http://schemas.openxmlformats.org/drawingml/2006/main" w="28575">
            <a:solidFill>
              <a:srgbClr val="A7EF1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DD69D-9DC9-45DC-BCAC-588BEEB8A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98775A-2A8F-4AC7-8488-873E82BDE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BUYER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02B9F2-3198-410F-8A6D-F6060F32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Pays native USDC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48EB67-2F98-41C6-9733-1B39BBEE8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5F0"/>
          </a:solidFill>
          <a:ln xmlns:a="http://schemas.openxmlformats.org/drawingml/2006/main" w="28575">
            <a:solidFill>
              <a:srgbClr val="A7EF1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20EC758-C42F-4271-BAA0-51A44045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AEDBD0-99B2-46C9-866F-C2487864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WORKER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D0AEC6-BDE9-4423-B44E-F577161AF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Discovers receipt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318247-67BC-47CD-BB11-DD1908A07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F5F0"/>
          </a:solidFill>
          <a:ln xmlns:a="http://schemas.openxmlformats.org/drawingml/2006/main" w="28575">
            <a:solidFill>
              <a:srgbClr val="A7EF1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68FC1C-A00D-4F87-8E26-68F3101D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ACB069-7184-4592-8DD2-0C1A995F3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ATTESTCOIN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C07129-F7B5-4D13-9FAA-4F85C01F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Builds proof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20C359-2AB3-4B5A-AB1E-02C11A75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543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28575">
            <a:solidFill>
              <a:srgbClr val="A7EF1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43797A-0DB3-4A7A-95F1-C8140AAC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667125"/>
            <a:ext cx="51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510"/>
                </a:solidFill>
              </a:defRPr>
            </a:pPr>
            <a:r>
              <a:rPr sz="1200" b="1">
                <a:solidFill>
                  <a:srgbClr val="111510"/>
                </a:solidFill>
              </a:rPr>
              <a:t>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441301-33BF-42E5-95A3-69425476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767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CONTRACT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59EACF-465D-49F5-9058-50CD65476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810125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Verifies + releases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CF5A3F-BBD2-410D-8A0F-7C320E3C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19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7EF1C"/>
                </a:solidFill>
              </a:defRPr>
            </a:pPr>
            <a:r>
              <a:rPr sz="1125" b="1">
                <a:solidFill>
                  <a:srgbClr val="A7EF1C"/>
                </a:solidFill>
              </a:rPr>
              <a:t>PAYMENT STAYS ON ETHEREUM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BAE4FE-43C8-4A38-BFAD-81069DFC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619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A7EF1C"/>
                </a:solidFill>
              </a:defRPr>
            </a:pPr>
            <a:r>
              <a:rPr sz="1125" b="1">
                <a:solidFill>
                  <a:srgbClr val="A7EF1C"/>
                </a:solidFill>
              </a:rPr>
              <a:t>OWNERSHIP STAYS ON CREDITCOIN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424947-3F2C-43B2-9E26-67342354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591666-9BF7-48E0-90B3-3CC638FA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912348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0AD4C66-4435-4803-8767-962B03D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ADC573-68E5-41AA-9F55-28B51D61D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VERIFICATION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34070-12FA-4F89-8031-7AA09C43F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84D30-BE62-46FD-833F-5BC100CB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75905F-7A3F-48B0-8064-C9A1F454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Settlement has one admissible path: exact proof match.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878BE0-A2B3-4F16-9597-B903B5241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Verified bytes—not worker claims—must satisfy every on-chain constraint.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667B3-3C48-4AB5-9167-83C3ECF3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227D4-F0E5-4B20-B57C-AC8947BB6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A1E55A-D5F7-444B-8648-06EB0BBF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95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Verifier precompile accepts inclusion + continuity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3ED044-5F10-4C1A-9CA1-30E1A3AB2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241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39DF80-0431-45D2-81CC-5DDCB5FD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146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A7B381-2BD0-4451-9CB6-2306919DB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895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Receipt status is successful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93AD3-DFD4-4D67-971A-449E5E628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7D3936-43E6-4357-A16C-02E362CD9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A242A7-BF48-45D8-8132-BA5146DC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886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Emitter is official Sepolia USDC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8C6FC3-55CF-4E11-8E56-01A9A679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147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9520BC-2161-4594-99A0-1EE18A22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9052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EEEFBD-E103-409A-9BD3-EDA69945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8862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Buyer, seller, amount, token, and window match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FAC6B7-EF17-4E6A-8B4F-BC0CDC05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5D8B1F-DAE0-444D-B61D-0D30D6F5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95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161F1F-8845-49EA-90E6-9FAB90812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8768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Exactly one Transfer event matches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528E8D-4235-46ED-8877-513BDAF00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705350"/>
            <a:ext cx="525780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2203D4-CD7E-496D-8769-4980CD79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32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EF1C"/>
                </a:solidFill>
              </a:defRPr>
            </a:pPr>
            <a:r>
              <a:rPr sz="1800" b="1">
                <a:solidFill>
                  <a:srgbClr val="A7EF1C"/>
                </a:solidFill>
              </a:rPr>
              <a:t>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D6AD1F-DA3E-462D-A2F7-9B6E5CD3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8768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Query ID has never been used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07ACAA-1030-46E2-8888-B6DBFF163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3A7E0-FE15-47E8-A5AA-76C63AB8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451761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5AFA5-7C70-43C5-8801-B8F16B7E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FAEE4E-7538-4DAE-845C-5AA2FF8D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SECURITY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FB854-E634-49CE-A9B9-137C9E73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DBA4A-9C62-4B3D-A308-0A47786E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D3DB98-DF5B-4F0F-A40E-53957C6D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The worker carries evidence—never authority.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BA2AFF-7351-4B71-B68E-367505D8C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Settlement power remains inside non-upgradeable contract logic.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E9A229-0FA2-4F64-91E4-5684C870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CONTRACT ENFORCES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63EE2-BBD2-44FC-B5D1-51FF02CC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860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OPERATOR CANNOT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B7CAFD-BAAA-4533-BB7E-60D1250AE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EF1C"/>
                </a:solidFill>
              </a:defRPr>
            </a:pPr>
            <a:r>
              <a:rPr sz="1650" b="1">
                <a:solidFill>
                  <a:srgbClr val="A7EF1C"/>
                </a:solidFill>
              </a:rPr>
              <a:t>+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B8484F-5AE1-4159-8A0C-D14A6406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194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Release and replay marker are atomic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03AF1-3B4C-434F-BAEA-AE09D6D9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EF1C"/>
                </a:solidFill>
              </a:defRPr>
            </a:pPr>
            <a:r>
              <a:rPr sz="1650" b="1">
                <a:solidFill>
                  <a:srgbClr val="A7EF1C"/>
                </a:solidFill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F54889-E1D6-4206-AD64-AFFB26F13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Checks-effects-interactions + reentrancy guard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DA6C93-38AE-47D2-B714-F0501828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00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EF1C"/>
                </a:solidFill>
              </a:defRPr>
            </a:pPr>
            <a:r>
              <a:rPr sz="1650" b="1">
                <a:solidFill>
                  <a:srgbClr val="A7EF1C"/>
                </a:solidFill>
              </a:rPr>
              <a:t>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9930B8-F821-4F35-B22B-BF6963B3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One open sale per exact payment tuple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A9A27A-4625-4A6F-928E-7C8DF0EB8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A7EF1C"/>
                </a:solidFill>
              </a:defRPr>
            </a:pPr>
            <a:r>
              <a:rPr sz="1650" b="1">
                <a:solidFill>
                  <a:srgbClr val="A7EF1C"/>
                </a:solidFill>
              </a:rPr>
              <a:t>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A143D-4C51-40AB-A4DF-CB2D3B7E6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911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Reclaim only after payment window + grace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BDEE29-A148-44A9-971F-4F9C9478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194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021D47-4682-4BD8-B9F8-759F834C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2194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Force-settle escrowed assets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51A08F-D1AA-4796-A1E1-9DE60B13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ADE7D8-E78D-4771-BA32-9ABB3D20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100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Mark arbitrary proofs as verified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1EC88-7836-4A74-BC0A-C942205A8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4005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867113-F48B-47AC-8B2E-A9DFB163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40055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Change buyer after sale creation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84A003-384E-4F7F-947A-65A1F199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8A72"/>
                </a:solidFill>
              </a:defRPr>
            </a:pPr>
            <a:r>
              <a:rPr sz="1650" b="1">
                <a:solidFill>
                  <a:srgbClr val="FF8A72"/>
                </a:solidFill>
              </a:rPr>
              <a:t>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15A4E5-9E15-4B3E-82BB-E48C5811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911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Touch funds or hold privileged roles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4534D3-CEAB-4E88-BD47-6B40C3DB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03AE5C-1EE5-4446-874B-5C131A4A2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3210597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3797B3-3A49-438A-9AFD-43E271F75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BE2E7-6EEA-4873-A65E-4DA594451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LIVE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0462C2-82EF-46AB-A64A-BB2304FA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EB3A8-61A4-4D73-A69A-D9F6A720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F38A6B-A035-4376-B11B-083B0F0A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A complete testnet settlement closes the loop.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D7AEA2-B495-40E7-90C9-FA4C622B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Distinct buyer and seller wallets; official Sepolia USDC; final ownership on CC3.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F9C12-B68D-49A4-A69E-2C13ED33D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408621-1BA8-4CD0-9EE4-15E33853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510"/>
                </a:solidFill>
              </a:defRPr>
            </a:pPr>
            <a:r>
              <a:rPr sz="2550" b="1">
                <a:solidFill>
                  <a:srgbClr val="111510"/>
                </a:solidFill>
              </a:rPr>
              <a:t>489 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BDB81-089B-4CFD-8C99-9FF7557F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26A60"/>
                </a:solidFill>
              </a:defRPr>
            </a:pPr>
            <a:r>
              <a:rPr sz="900" b="1">
                <a:solidFill>
                  <a:srgbClr val="626A60"/>
                </a:solidFill>
              </a:rPr>
              <a:t>PAYMENT → SETTLEMENT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126A6D-9857-4E20-9B0C-DA5737AD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F5B477-06A9-46FE-8772-61ABAC49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510"/>
                </a:solidFill>
              </a:defRPr>
            </a:pPr>
            <a:r>
              <a:rPr sz="2550" b="1">
                <a:solidFill>
                  <a:srgbClr val="111510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1AC8A-8841-480A-916F-AE94C7E7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26A60"/>
                </a:solidFill>
              </a:defRPr>
            </a:pPr>
            <a:r>
              <a:rPr sz="900" b="1">
                <a:solidFill>
                  <a:srgbClr val="626A60"/>
                </a:solidFill>
              </a:rPr>
              <a:t>INDEPENDENT WALLETS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33CC87-B55E-471C-B916-09CD5FB0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DE55B-1423-4CF8-B924-BBF70CA4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510"/>
                </a:solidFill>
              </a:defRPr>
            </a:pPr>
            <a:r>
              <a:rPr sz="2550" b="1">
                <a:solidFill>
                  <a:srgbClr val="111510"/>
                </a:solidFill>
              </a:rPr>
              <a:t>1 /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4AB2A0-994F-415B-A8C9-98780FF8A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26A60"/>
                </a:solidFill>
              </a:defRPr>
            </a:pPr>
            <a:r>
              <a:rPr sz="900" b="1">
                <a:solidFill>
                  <a:srgbClr val="626A60"/>
                </a:solidFill>
              </a:rPr>
              <a:t>BUYER / ESCROW BALANCE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25227-6CA3-4F2C-ABC5-5FD447F23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647950"/>
            <a:ext cx="25527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BD7"/>
          </a:solidFill>
          <a:ln xmlns:a="http://schemas.openxmlformats.org/drawingml/2006/main" w="9525">
            <a:solidFill>
              <a:srgbClr val="85C90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AC2A2A-B8B4-4C5E-81D0-58FBE602A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76550"/>
            <a:ext cx="2133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6E9F12"/>
                </a:solidFill>
              </a:defRPr>
            </a:pPr>
            <a:r>
              <a:rPr sz="2550" b="1">
                <a:solidFill>
                  <a:srgbClr val="6E9F12"/>
                </a:solidFill>
              </a:rPr>
              <a:t>TRUE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7F5CB7-541D-46F3-A330-88057C74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0995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26A60"/>
                </a:solidFill>
              </a:defRPr>
            </a:pPr>
            <a:r>
              <a:rPr sz="900" b="1">
                <a:solidFill>
                  <a:srgbClr val="626A60"/>
                </a:solidFill>
              </a:rPr>
              <a:t>REPLAY MARKER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2D42CA-37B3-4549-8DCC-F6834CA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3865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SEPOLIA PAYMENT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C921C1-2729-49A0-B9ED-4EED6B74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5 USDC · block 11,566,178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7A06AC-E3E2-4569-92FA-7BB73F8CA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43865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CREDITCOIN SETTLEMENT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2BCF44-B45B-4F57-9DC9-54C44E2D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724400"/>
            <a:ext cx="495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Status SETTLED · token 1001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A90CED-6BE6-455D-9CFC-F2F9B5685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72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A60"/>
                </a:solidFill>
              </a:defRPr>
            </a:pPr>
            <a:r>
              <a:rPr sz="1125" b="0">
                <a:solidFill>
                  <a:srgbClr val="626A60"/>
                </a:solidFill>
              </a:rPr>
              <a:t>Query 0x4c94e8b1…d853e655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1117B4-B706-495B-85E1-7A0821DD6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53721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26A60"/>
                </a:solidFill>
              </a:defRPr>
            </a:pPr>
            <a:r>
              <a:rPr sz="1125" b="0">
                <a:solidFill>
                  <a:srgbClr val="626A60"/>
                </a:solidFill>
              </a:rPr>
              <a:t>Tx 0xcf9dd953…56eff96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2AA9C4-6091-4974-9788-8A53F9E8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5E064E-05FA-4772-A8EA-93D0FC8EB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5910825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7A95D0-6444-41EC-9F3D-27B8C3F75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14717C-405D-4AAA-86FD-3D831D2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7FD7CB-EADF-4804-878E-EC7DE7359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8F8CCE-C7C3-4A8B-86EC-DFA1DC9E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8C0D87-55AE-472A-A4C5-9AA26DC6B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The protocol is already usable through a guided playground.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504CA-1BA4-41B1-9BC7-4284BEF5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Builders can inspect the flow, open evidence, and integrate against documented contracts.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f9fc0714554dde"/>
          <a:srcRect xmlns:a="http://schemas.openxmlformats.org/drawingml/2006/main" l="0" t="19315" r="0" b="19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2590800"/>
            <a:ext cx="7239000" cy="3429000"/>
          </a:xfrm>
          <a:prstGeom xmlns:a="http://schemas.openxmlformats.org/drawingml/2006/main" prst="roundRect">
            <a:avLst>
              <a:gd name="adj" fmla="val 3333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CCA41-36A9-470B-B002-A86505C2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24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A7EF1C"/>
                </a:solidFill>
              </a:defRPr>
            </a:pPr>
            <a:r>
              <a:rPr sz="1050" b="1">
                <a:solidFill>
                  <a:srgbClr val="A7EF1C"/>
                </a:solidFill>
              </a:rPr>
              <a:t>WHAT SHIPS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709FEA-5FCE-4619-95AC-3B383C5F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F53C29-6033-4957-A700-4934D116A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1813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510"/>
                </a:solidFill>
              </a:defRPr>
            </a:pPr>
            <a:r>
              <a:rPr sz="1275" b="0">
                <a:solidFill>
                  <a:srgbClr val="111510"/>
                </a:solidFill>
              </a:rPr>
              <a:t>Wallet-free simulation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798EC-609B-463A-8E02-4C123F4B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6385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B76A51-56AE-46C0-A7AA-CD4343A8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385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510"/>
                </a:solidFill>
              </a:defRPr>
            </a:pPr>
            <a:r>
              <a:rPr sz="1275" b="0">
                <a:solidFill>
                  <a:srgbClr val="111510"/>
                </a:solidFill>
              </a:rPr>
              <a:t>Evidence links for each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A6DD94-31E4-4E12-B076-BAFF3827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0957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7DEE7-4E64-4359-AD6D-E93D2F92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957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510"/>
                </a:solidFill>
              </a:defRPr>
            </a:pPr>
            <a:r>
              <a:rPr sz="1275" b="0">
                <a:solidFill>
                  <a:srgbClr val="111510"/>
                </a:solidFill>
              </a:rPr>
              <a:t>API reference + ABI downloads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8FEFD-6487-4AE4-8CE1-C94D4B61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529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7EE0B0-FBEF-4D38-9C7E-DE34C851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5529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510"/>
                </a:solidFill>
              </a:defRPr>
            </a:pPr>
            <a:r>
              <a:rPr sz="1275" b="0">
                <a:solidFill>
                  <a:srgbClr val="111510"/>
                </a:solidFill>
              </a:rPr>
              <a:t>Typed errors and request IDs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FDE48C-67F6-4574-BE61-4B07BB0D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10150"/>
            <a:ext cx="19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A7EF1C"/>
                </a:solidFill>
              </a:defRPr>
            </a:pPr>
            <a:r>
              <a:rPr sz="1350" b="1">
                <a:solidFill>
                  <a:srgbClr val="A7EF1C"/>
                </a:solidFill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1F698A-BF6D-4AFB-9A40-23C6ED31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010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510"/>
                </a:solidFill>
              </a:defRPr>
            </a:pPr>
            <a:r>
              <a:rPr sz="1275" b="0">
                <a:solidFill>
                  <a:srgbClr val="111510"/>
                </a:solidFill>
              </a:rPr>
              <a:t>Worker automation path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E7853F-FDE1-4779-96E1-82FB7B54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E0AF6C-260A-4863-A458-E4A214E5A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56233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0DB1DA-9A20-4AE0-9D17-5C43C70B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4F9606-D8E8-4774-907B-DAF196EB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ENGINEERING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06444-0BA8-4E1D-9132-67270BD60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C40D7-C265-49FC-B140-C79FD128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67B72-4E43-4C9C-BEB3-6BD05B053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The stack is tested from contract to application.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8093C2-29D7-4FCE-A495-51A3A4C62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The latest recorded audit verifies the deployed v3 path and its settlement invariants.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9C8A86-AA2A-43CF-975F-3D22DE37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5C032A-1334-4A7A-95F3-774B05CA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7EF1C"/>
                </a:solidFill>
              </a:defRPr>
            </a:pPr>
            <a:r>
              <a:rPr sz="2550" b="1">
                <a:solidFill>
                  <a:srgbClr val="A7EF1C"/>
                </a:solidFill>
              </a:rPr>
              <a:t>19 / 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1658A-E3D5-48BD-8AD4-69C3E924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APPLICATION TESTS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B5C7A-DE1E-4063-882C-9B1E46D00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E393B3-3076-4B2A-BD29-9963B6BC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7EF1C"/>
                </a:solidFill>
              </a:defRPr>
            </a:pPr>
            <a:r>
              <a:rPr sz="2550" b="1">
                <a:solidFill>
                  <a:srgbClr val="A7EF1C"/>
                </a:solidFill>
              </a:rPr>
              <a:t>9 / 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F5C62-BBC9-42C8-B631-5BDC5251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FOUNDRY TESTS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609563-4CA9-44AC-859D-3DDA7522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358AFF-6856-4618-B40E-BF8151F0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7EF1C"/>
                </a:solidFill>
              </a:defRPr>
            </a:pPr>
            <a:r>
              <a:rPr sz="2550" b="1">
                <a:solidFill>
                  <a:srgbClr val="A7EF1C"/>
                </a:solidFill>
              </a:rPr>
              <a:t>256k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CC302A-03BD-405E-8F38-F09C723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INVARIANT CALLS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4D4970-9A7F-45A1-AA9E-B77EFD17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781300"/>
            <a:ext cx="25527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DD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68B9A8-28B2-4887-B4D0-7F85BA21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28950"/>
            <a:ext cx="2133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A7EF1C"/>
                </a:solidFill>
              </a:defRPr>
            </a:pPr>
            <a:r>
              <a:rPr sz="2550" b="1">
                <a:solidFill>
                  <a:srgbClr val="A7EF1C"/>
                </a:solidFill>
              </a:rPr>
              <a:t>CLEAN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F328A-18DD-44FB-850E-9677FC4C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38550"/>
            <a:ext cx="2133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TYPECHECK + LINT + BUILD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9E85E-CB55-497D-8BDC-B07CED4D0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11510"/>
                </a:solidFill>
              </a:defRPr>
            </a:pPr>
            <a:r>
              <a:rPr sz="1425" b="1">
                <a:solidFill>
                  <a:srgbClr val="111510"/>
                </a:solidFill>
              </a:rPr>
              <a:t>Security posture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0F5B8C-C128-4FEB-BC27-34BD7209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625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26A60"/>
                </a:solidFill>
              </a:defRPr>
            </a:pPr>
            <a:r>
              <a:rPr sz="1350" b="0">
                <a:solidFill>
                  <a:srgbClr val="626A60"/>
                </a:solidFill>
              </a:rPr>
              <a:t>Reentrancy finding resolved. Remaining Slither note is the intentional reclaim timestamp comparison.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FDCC00-E4E1-4B96-8EB8-C8243ACB6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5AD1BF-151E-43EB-9602-3FEADF1D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5203829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B0D0D3-8126-4AEB-AB7D-7CB5CD20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789B8C-A40A-4DE2-9801-DF08A10F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ADOPTION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CE3713-79DF-47C7-B746-DABB9D14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05391C-C521-4F4D-8743-E7F96C242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147B1D-35CB-4EAE-ACF9-8D66E0A2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Credo is a settlement layer—not a marketplace.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5122A-C368-432A-8BEF-4299E4FD4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The protocol owns truth; ecosystem products own discovery, pricing, compliance, and experience.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6D94DE-158E-4E60-BC6F-44D49840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62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CREDO CORE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B4BACA-085B-469D-A1F0-94F70D44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622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A7EF1C"/>
                </a:solidFill>
              </a:defRPr>
            </a:pPr>
            <a:r>
              <a:rPr sz="1200" b="1">
                <a:solidFill>
                  <a:srgbClr val="A7EF1C"/>
                </a:solidFill>
              </a:rPr>
              <a:t>BUILDER SURFACE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5AE3CD-0B55-42A2-999A-C51E0FAD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Escrow + deterministic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8BC6AC-B0B0-4487-8838-09D9FAF46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Attestcoin verification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FF5B3-C83C-4FB7-A4AB-4808E44C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29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Payment-intent uniqueness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DB63DD-5F7C-4879-9B5A-539BADBF7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53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Replay protection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8DE567-37F3-4ED5-9BB7-7587FF1A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Worker automation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EAECF7-682E-4512-A722-6EA2E31E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76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510"/>
                </a:solidFill>
              </a:defRPr>
            </a:pPr>
            <a:r>
              <a:rPr sz="1350" b="1">
                <a:solidFill>
                  <a:srgbClr val="111510"/>
                </a:solidFill>
              </a:rPr>
              <a:t>RWA marketplaces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C70295-9648-44F8-B766-464CC315A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7528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OTC and private sales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95024-44BB-4AC1-9AEC-8A71C877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2291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Issuance + compliance apps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3ED232-2A99-4F8B-8738-31CD4327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0535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Portfolio and analytics products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344FBE-0EBF-48D4-B4D7-DEADC7B7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181600"/>
            <a:ext cx="4476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510"/>
                </a:solidFill>
              </a:defRPr>
            </a:pPr>
            <a:r>
              <a:rPr sz="1350" b="0">
                <a:solidFill>
                  <a:srgbClr val="111510"/>
                </a:solidFill>
              </a:rPr>
              <a:t>Any DvP-enabled experience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72B18-9748-4B1F-85C6-86388BF7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72415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77A562-74BD-40B6-8959-5D5EDB5E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87F3A3-5DDC-46D9-AFAB-4A0AA748E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6364691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BC9758-4830-45BC-8795-5C224199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1CB84A-C077-46D7-A99E-1362CF72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6670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626A60"/>
                </a:solidFill>
              </a:defRPr>
            </a:pPr>
            <a:r>
              <a:rPr sz="825" b="1">
                <a:solidFill>
                  <a:srgbClr val="626A60"/>
                </a:solidFill>
              </a:rPr>
              <a:t>ROADMAP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5A4DFB-7CB9-46C0-BAC4-41A6BBFD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B2AD4D-7531-4886-B0CB-B8A1EE66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81050"/>
            <a:ext cx="57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A7EF1C"/>
                </a:solidFill>
              </a:defRPr>
            </a:pPr>
            <a:r>
              <a:rPr sz="1275" b="1">
                <a:solidFill>
                  <a:srgbClr val="A7EF1C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9F5D79-7018-4AE7-A3A5-85E7EF4C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510"/>
                </a:solidFill>
              </a:defRPr>
            </a:pPr>
            <a:r>
              <a:rPr sz="3150" b="1">
                <a:solidFill>
                  <a:srgbClr val="111510"/>
                </a:solidFill>
              </a:rPr>
              <a:t>Scale the primitive without weakening the trust model.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C298E7-8080-4C36-AA02-E0407768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96215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26A60"/>
                </a:solidFill>
              </a:defRPr>
            </a:pPr>
            <a:r>
              <a:rPr sz="1425" b="0">
                <a:solidFill>
                  <a:srgbClr val="626A60"/>
                </a:solidFill>
              </a:rPr>
              <a:t>The current testnet release is proven; the next phases expand access and asset coverage.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5ABFE-40AE-45BB-A778-46F3AE1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3001B-AEE9-4EC5-8759-2005FFBE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7EF1C"/>
                </a:solidFill>
              </a:defRPr>
            </a:pPr>
            <a:r>
              <a:rPr sz="975" b="1">
                <a:solidFill>
                  <a:srgbClr val="A7EF1C"/>
                </a:solidFill>
              </a:rPr>
              <a:t>NOW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93A7EF-925B-46C0-BA0A-495F28B0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SETTLEMENT PRIMITIVE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0ED19-588B-4E6C-B1CE-7EF5C341F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Shipped on CC3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11C96C-1D02-4068-AAA5-72943FAD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EABC12-8CEC-4D00-9D0D-D5791B35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F06425-3013-4095-A1B2-0C8E25CB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RESERVATIONS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6F9C67-B88E-408C-9483-13F68175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Remove double-buyer 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BB1AD6-FAE5-4F7C-9DFF-C8B5135F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E53AD-43C5-48B2-8FE6-A9C97A02C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THEN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64B78-D7FB-4AD9-8717-DAFF44DB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ASSET ADAPTERS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CE1C7-41CF-4AEC-B3A1-AAED4EAB8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ERC-20 / 721 / 3643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7BBEE-75EF-42F0-BA6C-03763C2C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19450"/>
            <a:ext cx="2381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DDD5"/>
          </a:solidFill>
          <a:ln xmlns:a="http://schemas.openxmlformats.org/drawingml/2006/main" w="0">
            <a:solidFill>
              <a:srgbClr val="D8DDD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DF0E5-1C3E-493F-93D1-CEACF539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05200"/>
            <a:ext cx="2362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26A60"/>
                </a:solidFill>
              </a:defRPr>
            </a:pPr>
            <a:r>
              <a:rPr sz="975" b="1">
                <a:solidFill>
                  <a:srgbClr val="626A60"/>
                </a:solidFill>
              </a:rPr>
              <a:t>LATER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DB8479-1144-4472-A113-729758F0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9052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510"/>
                </a:solidFill>
              </a:defRPr>
            </a:pPr>
            <a:r>
              <a:rPr sz="1500" b="1">
                <a:solidFill>
                  <a:srgbClr val="111510"/>
                </a:solidFill>
              </a:rPr>
              <a:t>TWO-WAY DVP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2A104F-1962-4706-953D-30E26983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339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26A60"/>
                </a:solidFill>
              </a:defRPr>
            </a:pPr>
            <a:r>
              <a:rPr sz="1200" b="0">
                <a:solidFill>
                  <a:srgbClr val="626A60"/>
                </a:solidFill>
              </a:rPr>
              <a:t>Requires reverse write-back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A99CA6-1D66-483E-A948-E5912367B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29250"/>
            <a:ext cx="109537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6140F"/>
          </a:solidFill>
          <a:ln xmlns:a="http://schemas.openxmlformats.org/drawingml/2006/main" w="9525">
            <a:solidFill>
              <a:srgbClr val="51442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AF04A0-CF7F-457C-8872-FBE351C0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007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1D38A"/>
                </a:solidFill>
              </a:defRPr>
            </a:pPr>
            <a:r>
              <a:rPr sz="1200" b="1">
                <a:solidFill>
                  <a:srgbClr val="F1D38A"/>
                </a:solidFill>
              </a:rPr>
              <a:t>HONEST LIMIT: payment is irreversible before Creditcoin release; this is proof-triggered settlement, not an atomic two-chain swap.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9F205B-9FDA-496D-954D-13A97ACCD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7109B4-6064-4961-B01E-E6E9199F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80001662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5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cd562ef2164f2b"/>
          <a:stretch xmlns:a="http://schemas.openxmlformats.org/drawingml/2006/main"/>
        </p:blipFill>
        <p:spPr>
          <a:xfrm xmlns:a="http://schemas.openxmlformats.org/drawingml/2006/main">
            <a:off x="5657850" y="1022350"/>
            <a:ext cx="876300" cy="584200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AD9EE1-BB4D-43DA-8AFE-20637B2F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11455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7EF1C"/>
                </a:solidFill>
              </a:defRPr>
            </a:pPr>
            <a:r>
              <a:rPr sz="1650" b="1">
                <a:solidFill>
                  <a:srgbClr val="A7EF1C"/>
                </a:solidFill>
              </a:rPr>
              <a:t>CREDO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9B649-7CBA-4DB6-BB00-0896F418D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705100"/>
            <a:ext cx="8001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111510"/>
                </a:solidFill>
              </a:defRPr>
            </a:pPr>
            <a:r>
              <a:rPr sz="4050" b="1">
                <a:solidFill>
                  <a:srgbClr val="111510"/>
                </a:solidFill>
              </a:rPr>
              <a:t>Proof crosses.</a:t>
            </a:r>
          </a:p>
          <a:p xmlns:a="http://schemas.openxmlformats.org/drawingml/2006/main">
            <a:pPr algn="ctr">
              <a:defRPr sz="4050" b="1">
                <a:solidFill>
                  <a:srgbClr val="111510"/>
                </a:solidFill>
              </a:defRPr>
            </a:pPr>
            <a:r>
              <a:rPr sz="4050" b="1">
                <a:solidFill>
                  <a:srgbClr val="111510"/>
                </a:solidFill>
              </a:rPr>
              <a:t>Ownership moves.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BD893C-6753-49BD-8A4F-D50E0D1AF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2291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26A60"/>
                </a:solidFill>
              </a:defRPr>
            </a:pPr>
            <a:r>
              <a:rPr sz="1500" b="0">
                <a:solidFill>
                  <a:srgbClr val="626A60"/>
                </a:solidFill>
              </a:rPr>
              <a:t>No bridge. No wrapped USDC. No trusted worker.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01E2B-0748-4471-A5B3-DDB6E1CA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72050"/>
            <a:ext cx="3238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EF1C"/>
          </a:solidFill>
          <a:ln xmlns:a="http://schemas.openxmlformats.org/drawingml/2006/main" w="0">
            <a:solidFill>
              <a:srgbClr val="A7EF1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5F1F2-2E73-474C-8845-E8379913D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2197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11510"/>
                </a:solidFill>
              </a:defRPr>
            </a:pPr>
            <a:r>
              <a:rPr sz="1425" b="1">
                <a:solidFill>
                  <a:srgbClr val="111510"/>
                </a:solidFill>
              </a:rPr>
              <a:t>Build on the settlement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F8014-08B6-4627-953A-7C581C458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38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26A60"/>
                </a:solidFill>
              </a:defRPr>
            </a:pPr>
            <a:r>
              <a:rPr sz="1125" b="0">
                <a:solidFill>
                  <a:srgbClr val="626A60"/>
                </a:solidFill>
              </a:rPr>
              <a:t>GitHub · Live playground · Testnet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82FF5-3477-48F8-9730-DA4893ED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96050"/>
            <a:ext cx="7620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26A60"/>
                </a:solidFill>
              </a:defRPr>
            </a:pPr>
            <a:r>
              <a:rPr sz="750" b="0">
                <a:solidFill>
                  <a:srgbClr val="626A60"/>
                </a:solidFill>
              </a:rPr>
              <a:t>BUIDL CTC 2026 · RWA TRACK · CREDITCOIN × ATTESTCOIN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DC1266-8AF9-45F5-B32F-CE24E5D2F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96050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626A60"/>
                </a:solidFill>
              </a:defRPr>
            </a:pPr>
            <a:r>
              <a:rPr sz="750" b="1">
                <a:solidFill>
                  <a:srgbClr val="626A60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1098000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2026-08-26T12:54:04.0870000Z</dcterms:created>
  <dcterms:modified xsi:type="dcterms:W3CDTF">2026-08-26T12:54:04.0870000Z</dcterms:modified>
</coreProperties>
</file>