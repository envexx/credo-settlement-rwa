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0f0cf545c24674" /><Relationship Type="http://schemas.openxmlformats.org/officeDocument/2006/relationships/extended-properties" Target="/docProps/app.xml" Id="R384116bf05fd426d" /><Relationship Type="http://schemas.openxmlformats.org/officeDocument/2006/relationships/officeDocument" Target="/ppt/presentation.xml" Id="R3a8f92800f6b4d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f8520b2473494f"/>
  </p:sldMasterIdLst>
  <p:notesMasterIdLst>
    <p:notesMasterId xmlns:r="http://schemas.openxmlformats.org/officeDocument/2006/relationships" r:id="Rfb570af514a34daa"/>
  </p:notesMasterIdLst>
  <p:sldIdLst>
    <p:sldId xmlns:r="http://schemas.openxmlformats.org/officeDocument/2006/relationships" id="256" r:id="Rd719eb2ebc8b4877"/>
    <p:sldId xmlns:r="http://schemas.openxmlformats.org/officeDocument/2006/relationships" id="257" r:id="R6005c6f57ab04634"/>
    <p:sldId xmlns:r="http://schemas.openxmlformats.org/officeDocument/2006/relationships" id="258" r:id="R726e1334922941d2"/>
    <p:sldId xmlns:r="http://schemas.openxmlformats.org/officeDocument/2006/relationships" id="259" r:id="R1ee3adfdf5eb49f4"/>
    <p:sldId xmlns:r="http://schemas.openxmlformats.org/officeDocument/2006/relationships" id="260" r:id="R8153bc8df7d24186"/>
    <p:sldId xmlns:r="http://schemas.openxmlformats.org/officeDocument/2006/relationships" id="261" r:id="R1881d17e16474f0d"/>
    <p:sldId xmlns:r="http://schemas.openxmlformats.org/officeDocument/2006/relationships" id="262" r:id="R292b8475122c46a0"/>
    <p:sldId xmlns:r="http://schemas.openxmlformats.org/officeDocument/2006/relationships" id="263" r:id="R7b26b29e562648b9"/>
    <p:sldId xmlns:r="http://schemas.openxmlformats.org/officeDocument/2006/relationships" id="264" r:id="R94df5371dafd4067"/>
    <p:sldId xmlns:r="http://schemas.openxmlformats.org/officeDocument/2006/relationships" id="265" r:id="R93d1144bcf684102"/>
    <p:sldId xmlns:r="http://schemas.openxmlformats.org/officeDocument/2006/relationships" id="266" r:id="Reeb9c5e04e304144"/>
    <p:sldId xmlns:r="http://schemas.openxmlformats.org/officeDocument/2006/relationships" id="267" r:id="Rc88cbfa15ce142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fe973df20b4279" /><Relationship Type="http://schemas.openxmlformats.org/officeDocument/2006/relationships/slideMaster" Target="/ppt/slideMasters/slideMaster1.xml" Id="Rbef8520b2473494f" /><Relationship Type="http://schemas.openxmlformats.org/officeDocument/2006/relationships/notesMaster" Target="/ppt/notesMasters/notesMaster1.xml" Id="Rfb570af514a34daa" /><Relationship Type="http://schemas.openxmlformats.org/officeDocument/2006/relationships/presProps" Target="/ppt/presProps.xml" Id="R644971ad16004b6a" /><Relationship Type="http://schemas.openxmlformats.org/officeDocument/2006/relationships/tableStyles" Target="/ppt/tableStyles.xml" Id="R80be7d24349742ad" /><Relationship Type="http://schemas.openxmlformats.org/officeDocument/2006/relationships/slide" Target="/ppt/slides/slide1.xml" Id="Rd719eb2ebc8b4877" /><Relationship Type="http://schemas.openxmlformats.org/officeDocument/2006/relationships/slide" Target="/ppt/slides/slide2.xml" Id="R6005c6f57ab04634" /><Relationship Type="http://schemas.openxmlformats.org/officeDocument/2006/relationships/slide" Target="/ppt/slides/slide3.xml" Id="R726e1334922941d2" /><Relationship Type="http://schemas.openxmlformats.org/officeDocument/2006/relationships/slide" Target="/ppt/slides/slide4.xml" Id="R1ee3adfdf5eb49f4" /><Relationship Type="http://schemas.openxmlformats.org/officeDocument/2006/relationships/slide" Target="/ppt/slides/slide5.xml" Id="R8153bc8df7d24186" /><Relationship Type="http://schemas.openxmlformats.org/officeDocument/2006/relationships/slide" Target="/ppt/slides/slide6.xml" Id="R1881d17e16474f0d" /><Relationship Type="http://schemas.openxmlformats.org/officeDocument/2006/relationships/slide" Target="/ppt/slides/slide7.xml" Id="R292b8475122c46a0" /><Relationship Type="http://schemas.openxmlformats.org/officeDocument/2006/relationships/slide" Target="/ppt/slides/slide8.xml" Id="R7b26b29e562648b9" /><Relationship Type="http://schemas.openxmlformats.org/officeDocument/2006/relationships/slide" Target="/ppt/slides/slide9.xml" Id="R94df5371dafd4067" /><Relationship Type="http://schemas.openxmlformats.org/officeDocument/2006/relationships/slide" Target="/ppt/slides/slide10.xml" Id="R93d1144bcf684102" /><Relationship Type="http://schemas.openxmlformats.org/officeDocument/2006/relationships/slide" Target="/ppt/slides/slide11.xml" Id="Reeb9c5e04e304144" /><Relationship Type="http://schemas.openxmlformats.org/officeDocument/2006/relationships/slide" Target="/ppt/slides/slide12.xml" Id="Rc88cbfa15ce142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795551d2484e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8b851764364ffc" /><Relationship Type="http://schemas.openxmlformats.org/officeDocument/2006/relationships/notesMaster" Target="/ppt/notesMasters/notesMaster1.xml" Id="R81ff7e6b1f4946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f5c6efa1574047" /><Relationship Type="http://schemas.openxmlformats.org/officeDocument/2006/relationships/notesMaster" Target="/ppt/notesMasters/notesMaster1.xml" Id="R7936db5e7f864c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cef151ca454d5b" /><Relationship Type="http://schemas.openxmlformats.org/officeDocument/2006/relationships/notesMaster" Target="/ppt/notesMasters/notesMaster1.xml" Id="Rfc3b33a49d384b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1acee992874731" /><Relationship Type="http://schemas.openxmlformats.org/officeDocument/2006/relationships/notesMaster" Target="/ppt/notesMasters/notesMaster1.xml" Id="Ra9e91495dd3842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5e365a76c341c8" /><Relationship Type="http://schemas.openxmlformats.org/officeDocument/2006/relationships/notesMaster" Target="/ppt/notesMasters/notesMaster1.xml" Id="Rf63009602abd4d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8acc0e7395474f" /><Relationship Type="http://schemas.openxmlformats.org/officeDocument/2006/relationships/notesMaster" Target="/ppt/notesMasters/notesMaster1.xml" Id="R851d073dd88340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f7eb30c6f5474e" /><Relationship Type="http://schemas.openxmlformats.org/officeDocument/2006/relationships/notesMaster" Target="/ppt/notesMasters/notesMaster1.xml" Id="Rc05517d1282f4d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c208b781c540f0" /><Relationship Type="http://schemas.openxmlformats.org/officeDocument/2006/relationships/notesMaster" Target="/ppt/notesMasters/notesMaster1.xml" Id="R195762dce2504c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e449759ed244b3" /><Relationship Type="http://schemas.openxmlformats.org/officeDocument/2006/relationships/notesMaster" Target="/ppt/notesMasters/notesMaster1.xml" Id="Rdd3ab77d13ea48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152ad9b65a4ce1" /><Relationship Type="http://schemas.openxmlformats.org/officeDocument/2006/relationships/notesMaster" Target="/ppt/notesMasters/notesMaster1.xml" Id="R0c22616d245d47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0c4009db624c8d" /><Relationship Type="http://schemas.openxmlformats.org/officeDocument/2006/relationships/notesMaster" Target="/ppt/notesMasters/notesMaster1.xml" Id="Rc38ce37d97314e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883b49cb2a4d51" /><Relationship Type="http://schemas.openxmlformats.org/officeDocument/2006/relationships/notesMaster" Target="/ppt/notesMasters/notesMaster1.xml" Id="Rcd07996ee8ec43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positioning and architecture: repository README and docs evidence.</a:t>
            </a:r>
          </a:p>
          <a:p xmlns:a="http://schemas.openxmlformats.org/drawingml/2006/main">
            <a:r>
              <a:t>- Product screenshot: dogfood-output/screenshots/landing-3d-final.png.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slides 2–3.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docs/evidence/payment/sepolia-tx.json.</a:t>
            </a:r>
          </a:p>
          <a:p xmlns:a="http://schemas.openxmlformats.org/drawingml/2006/main">
            <a:r>
              <a:t>- docs/evidence/settlement/creditcoin-tx.json.</a:t>
            </a:r>
          </a:p>
          <a:p xmlns:a="http://schemas.openxmlformats.org/drawingml/2006/main">
            <a:r>
              <a:t>- docs/evidence/contracts/addresses.json.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contracts/src/SettleRWA.sol.</a:t>
            </a:r>
          </a:p>
          <a:p xmlns:a="http://schemas.openxmlformats.org/drawingml/2006/main">
            <a:r>
              <a:t>- contracts/src/PaymentVerifierUSC.sol.</a:t>
            </a:r>
          </a:p>
          <a:p xmlns:a="http://schemas.openxmlformats.org/drawingml/2006/main">
            <a:r>
              <a:t>- worker/ implementation and USC SDK integration.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contracts/src/PaymentVerifierUSC.sol.</a:t>
            </a:r>
          </a:p>
          <a:p xmlns:a="http://schemas.openxmlformats.org/drawingml/2006/main">
            <a:r>
              <a:t>- docs/threat-model/README.md.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docs/threat-model/README.md.</a:t>
            </a:r>
          </a:p>
          <a:p xmlns:a="http://schemas.openxmlformats.org/drawingml/2006/main">
            <a:r>
              <a:t>- docs/evidence/security/slither.md.</a:t>
            </a:r>
          </a:p>
          <a:p xmlns:a="http://schemas.openxmlformats.org/drawingml/2006/main">
            <a:r>
              <a:t>- contracts/src/SettleRWA.sol.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docs/evidence/payment/sepolia-tx.json.</a:t>
            </a:r>
          </a:p>
          <a:p xmlns:a="http://schemas.openxmlformats.org/drawingml/2006/main">
            <a:r>
              <a:t>- docs/evidence/attestcoin/proof-run.json.</a:t>
            </a:r>
          </a:p>
          <a:p xmlns:a="http://schemas.openxmlformats.org/drawingml/2006/main">
            <a:r>
              <a:t>- docs/evidence/settlement/creditcoin-tx.json.</a:t>
            </a:r>
          </a:p>
          <a:p xmlns:a="http://schemas.openxmlformats.org/drawingml/2006/main">
            <a:r>
              <a:t>- docs/evidence/rwa/after.json.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dogfood-output/screenshots/playground-desktop.png.</a:t>
            </a:r>
          </a:p>
          <a:p xmlns:a="http://schemas.openxmlformats.org/drawingml/2006/main">
            <a:r>
              <a:t>- docs/TDD-AUDIT.md.</a:t>
            </a:r>
          </a:p>
          <a:p xmlns:a="http://schemas.openxmlformats.org/drawingml/2006/main">
            <a:r>
              <a:t>- In-app documentation under /infra.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docs/TDD-AUDIT.md, re-audit sessions 3–4.</a:t>
            </a:r>
          </a:p>
          <a:p xmlns:a="http://schemas.openxmlformats.org/drawingml/2006/main">
            <a:r>
              <a:t>- docs/evidence/security/slither.md.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 9.</a:t>
            </a:r>
          </a:p>
          <a:p xmlns:a="http://schemas.openxmlformats.org/drawingml/2006/main">
            <a:r>
              <a:t>- docs/INFRA-WORKPLAN.md.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slides 10–11.</a:t>
            </a:r>
          </a:p>
          <a:p xmlns:a="http://schemas.openxmlformats.org/drawingml/2006/main">
            <a:r>
              <a:t>- docs/TDD-AUDIT.md, open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root and docs/evidence directory.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a9b907a3b4f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b647328a8948a7" /><Relationship Type="http://schemas.openxmlformats.org/officeDocument/2006/relationships/slideLayout" Target="/ppt/slideLayouts/slideLayout1.xml" Id="R4ee0aba032c940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e0aba032c940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8b6bb22824f27" /><Relationship Type="http://schemas.openxmlformats.org/officeDocument/2006/relationships/image" Target="/ppt/media/image.png" Id="Rd7e3052f3ea34b3a" /><Relationship Type="http://schemas.openxmlformats.org/officeDocument/2006/relationships/image" Target="/ppt/media/image2.png" Id="R0e206cdf60164316" /><Relationship Type="http://schemas.openxmlformats.org/officeDocument/2006/relationships/notesSlide" Target="/ppt/notesSlides/notesSlide1.xml" Id="Ra0b2fe20e8344b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3abf1b4474496" /><Relationship Type="http://schemas.openxmlformats.org/officeDocument/2006/relationships/notesSlide" Target="/ppt/notesSlides/notesSlide2.xml" Id="R86d2c531e15348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cbdf373474599" /><Relationship Type="http://schemas.openxmlformats.org/officeDocument/2006/relationships/notesSlide" Target="/ppt/notesSlides/notesSlide3.xml" Id="Rfba0b61af90e43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b369a810f4346" /><Relationship Type="http://schemas.openxmlformats.org/officeDocument/2006/relationships/notesSlide" Target="/ppt/notesSlides/notesSlide4.xml" Id="R10a0c4febeee45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6b5db53a94412" /><Relationship Type="http://schemas.openxmlformats.org/officeDocument/2006/relationships/notesSlide" Target="/ppt/notesSlides/notesSlide5.xml" Id="R6c27a917a8a64e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c829fc82a4ed2" /><Relationship Type="http://schemas.openxmlformats.org/officeDocument/2006/relationships/notesSlide" Target="/ppt/notesSlides/notesSlide6.xml" Id="R06439c13a9974f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0191dac8948cb" /><Relationship Type="http://schemas.openxmlformats.org/officeDocument/2006/relationships/notesSlide" Target="/ppt/notesSlides/notesSlide7.xml" Id="R74d0711ece6a4b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e06b96c6e4a54" /><Relationship Type="http://schemas.openxmlformats.org/officeDocument/2006/relationships/image" Target="/ppt/media/image3.png" Id="R9c98a964b2594af4" /><Relationship Type="http://schemas.openxmlformats.org/officeDocument/2006/relationships/notesSlide" Target="/ppt/notesSlides/notesSlide8.xml" Id="R0feec094f7254e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06d76782a4566" /><Relationship Type="http://schemas.openxmlformats.org/officeDocument/2006/relationships/notesSlide" Target="/ppt/notesSlides/notesSlide9.xml" Id="Rd7e2edcdbe6e43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bef5f66624731" /><Relationship Type="http://schemas.openxmlformats.org/officeDocument/2006/relationships/notesSlide" Target="/ppt/notesSlides/notesSlide10.xml" Id="Rc1ca0fc07a9f41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734037a4f4740" /><Relationship Type="http://schemas.openxmlformats.org/officeDocument/2006/relationships/notesSlide" Target="/ppt/notesSlides/notesSlide11.xml" Id="Raf5ac07f28154a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91c13f6ea4136" /><Relationship Type="http://schemas.openxmlformats.org/officeDocument/2006/relationships/image" Target="/ppt/media/image4.png" Id="R6774f1d97d0b4861" /><Relationship Type="http://schemas.openxmlformats.org/officeDocument/2006/relationships/notesSlide" Target="/ppt/notesSlides/notesSlide12.xml" Id="R67110f2e33e94e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3052f3ea34b3a"/>
          <a:stretch xmlns:a="http://schemas.openxmlformats.org/drawingml/2006/main"/>
        </p:blipFill>
        <p:spPr>
          <a:xfrm xmlns:a="http://schemas.openxmlformats.org/drawingml/2006/main">
            <a:off x="609600" y="746125"/>
            <a:ext cx="819150" cy="546100"/>
          </a:xfrm>
          <a:prstGeom xmlns:a="http://schemas.openxmlformats.org/drawingml/2006/main" prst="roundRect">
            <a:avLst>
              <a:gd name="adj" fmla="val 1395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FDCC37-99C5-44DD-9361-52E430F7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EE42"/>
                </a:solidFill>
              </a:defRPr>
            </a:pPr>
            <a:r>
              <a:rPr sz="1950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5006E-7ADA-41B6-A2C3-333D1070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6477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4F5F0"/>
                </a:solidFill>
              </a:defRPr>
            </a:pPr>
            <a:r>
              <a:rPr sz="4350" b="1">
                <a:solidFill>
                  <a:srgbClr val="F4F5F0"/>
                </a:solidFill>
              </a:rPr>
              <a:t>Move ownership with</a:t>
            </a:r>
          </a:p>
          <a:p xmlns:a="http://schemas.openxmlformats.org/drawingml/2006/main">
            <a:pPr algn="l">
              <a:defRPr sz="4350" b="1">
                <a:solidFill>
                  <a:srgbClr val="F4F5F0"/>
                </a:solidFill>
              </a:defRPr>
            </a:pPr>
            <a:r>
              <a:rPr sz="4350" b="1">
                <a:solidFill>
                  <a:srgbClr val="F4F5F0"/>
                </a:solidFill>
              </a:rPr>
              <a:t>verifiable payment.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8CB75-5449-46A9-86A6-1C83F65B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657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8A194"/>
                </a:solidFill>
              </a:defRPr>
            </a:pPr>
            <a:r>
              <a:rPr sz="1725" b="0">
                <a:solidFill>
                  <a:srgbClr val="98A194"/>
                </a:solidFill>
              </a:rPr>
              <a:t>USDC stays final on Ethereum. The RWA stays native on Creditcoin. Only cryptographic proof crosses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26DBA-3562-4FDE-A3B0-AAA56F59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2B677-31EB-4324-96B7-E5D0EC34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5F0"/>
                </a:solidFill>
              </a:defRPr>
            </a:pPr>
            <a:r>
              <a:rPr sz="1275" b="1">
                <a:solidFill>
                  <a:srgbClr val="F4F5F0"/>
                </a:solidFill>
              </a:rPr>
              <a:t>Proof-triggered RWA settlement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06cdf60164316"/>
          <a:stretch xmlns:a="http://schemas.openxmlformats.org/drawingml/2006/main"/>
        </p:blipFill>
        <p:spPr>
          <a:xfrm xmlns:a="http://schemas.openxmlformats.org/drawingml/2006/main">
            <a:off x="7410450" y="1759744"/>
            <a:ext cx="4286250" cy="2976563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8D710-D028-413D-A541-AB41F586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E4F69-A894-4E32-9FEA-0EA44B4C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678601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491905-EA1D-4BD7-9C2F-47A90237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25D98-7EEB-44CA-AEA6-AFA93960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C5CDD-D9B9-445E-936F-8436935C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0702E-639C-48B1-BF08-7A75DF78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56ADB-E7D3-4B6F-BC48-FC303733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Cross-chain RWA settlement breaks at the trust boundary.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8AEF0-B73F-4A33-BAF0-56FFC0E2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Payments may be final, yet delivery still depends on bridges, wrappers, or privileged operators.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AD176-57BD-4C9A-B344-721748D2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3A0A2A-9675-406D-BD00-32E83541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241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BRIDGE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FCD08-8768-47BF-969E-011304E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241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4"/>
                </a:solidFill>
              </a:defRPr>
            </a:pPr>
            <a:r>
              <a:rPr sz="1350" b="0">
                <a:solidFill>
                  <a:srgbClr val="98A194"/>
                </a:solidFill>
              </a:rPr>
              <a:t>Final USDC becomes wrapped exposure.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D2D12-62DB-4159-885B-B4BC446D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4802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1E984-8C3B-4E42-8F76-4ABFB8CA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2F3D63-131A-4756-8AC7-F10AAB2E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052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ORACLE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4D238-999E-4316-8371-CBCCAC59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4"/>
                </a:solidFill>
              </a:defRPr>
            </a:pPr>
            <a:r>
              <a:rPr sz="1350" b="0">
                <a:solidFill>
                  <a:srgbClr val="98A194"/>
                </a:solidFill>
              </a:rPr>
              <a:t>A backend assertion replaces cryptographic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A6BFA-CD7D-4B35-B81A-F5ECB995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2907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0D32F-D3FF-4E00-8B13-99AC27CD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E92091-57C2-46A2-9C0B-69DA1860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86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OPERATOR POWER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B9689A-094B-416F-935A-F3C59ECF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86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4"/>
                </a:solidFill>
              </a:defRPr>
            </a:pPr>
            <a:r>
              <a:rPr sz="1350" b="0">
                <a:solidFill>
                  <a:srgbClr val="98A194"/>
                </a:solidFill>
              </a:rPr>
              <a:t>One compromised key can redirect settlement.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C1EE3-69B4-4DFC-92BB-7CC50BDB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012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0FB1BE-27C2-4D1F-B7DE-2D2A8961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92A13-F969-44F3-8D04-CC62DE55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WEAK BINDING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7E4138-A1C0-44CB-90D1-1AB4479C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067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4"/>
                </a:solidFill>
              </a:defRPr>
            </a:pPr>
            <a:r>
              <a:rPr sz="1350" b="0">
                <a:solidFill>
                  <a:srgbClr val="98A194"/>
                </a:solidFill>
              </a:rPr>
              <a:t>A payment can settle the wrong buyer, asset, amount, or window.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8720D-235D-4166-B1A1-3567F13D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9117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2DC0D-9B04-4E45-8FC5-2436A7E9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6C8CF0-C034-4550-8698-BC70DE36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78576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062B97-C89E-428A-8CDA-D2DCD60B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B256E-BF7A-4509-818B-AB3716B0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85E86-31D9-41D4-87FA-FCAE2AE6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CC132-B895-4D4E-BDC2-14157F25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5D10C-1CC3-42E1-B774-810BF0A5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Move proof—not money or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5C66D-5F46-48A8-A07C-D1790E40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Credo separates what must remain native from what must cross.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34FC6-EE17-4AA5-93C5-7FB457C5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E28BEB-138C-4B5D-AB0F-F9B2B5A5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PAYMENT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A3E3B-9DFF-4EAA-A514-04FD4895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5F0"/>
                </a:solidFill>
              </a:defRPr>
            </a:pPr>
            <a:r>
              <a:rPr sz="1800" b="1">
                <a:solidFill>
                  <a:srgbClr val="F4F5F0"/>
                </a:solidFill>
              </a:rPr>
              <a:t>ETHEREUM SEPOLIA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EED32-4AA3-49E3-A0DD-9AC306A8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8A194"/>
                </a:solidFill>
              </a:defRPr>
            </a:pPr>
            <a:r>
              <a:rPr sz="1500" b="0">
                <a:solidFill>
                  <a:srgbClr val="98A194"/>
                </a:solidFill>
              </a:rPr>
              <a:t>USDC stays final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E48C1-C5E7-4CE4-AF3A-7AEC78A9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31605-06EA-4A97-A0F5-C57C5BFF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F5F0"/>
                </a:solidFill>
              </a:defRPr>
            </a:pPr>
            <a:r>
              <a:rPr sz="1125" b="1">
                <a:solidFill>
                  <a:srgbClr val="F4F5F0"/>
                </a:solidFill>
              </a:rPr>
              <a:t>NO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28717-4321-4394-A206-1FCA3AC7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72014"/>
          </a:solidFill>
          <a:ln xmlns:a="http://schemas.openxmlformats.org/drawingml/2006/main" w="9525">
            <a:solidFill>
              <a:srgbClr val="B7EE4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7523A-05DF-4467-AEDF-E3A541B1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043AD-8269-40F3-94BC-40996989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5F0"/>
                </a:solidFill>
              </a:defRPr>
            </a:pPr>
            <a:r>
              <a:rPr sz="1800" b="1">
                <a:solidFill>
                  <a:srgbClr val="F4F5F0"/>
                </a:solidFill>
              </a:rPr>
              <a:t>ATTESTCOIN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39EDD-18D6-476B-8DB7-74828750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8A194"/>
                </a:solidFill>
              </a:defRPr>
            </a:pPr>
            <a:r>
              <a:rPr sz="1500" b="0">
                <a:solidFill>
                  <a:srgbClr val="98A194"/>
                </a:solidFill>
              </a:rPr>
              <a:t>Receipt + continuity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1B4F98-EB72-4D4D-92A9-9E3EB8A6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1C1F0-7858-4E94-876D-1ACE424D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F5F0"/>
                </a:solidFill>
              </a:defRPr>
            </a:pPr>
            <a:r>
              <a:rPr sz="1125" b="1">
                <a:solidFill>
                  <a:srgbClr val="F4F5F0"/>
                </a:solidFill>
              </a:rPr>
              <a:t>ONLY THIS CROSSES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D72C34-B83C-4B32-B6A8-10BE66FC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AAF14B-61BB-42D2-B830-D42F2CED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OWNERSHIP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E17966-A1FF-4020-8556-9BA8F989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5F0"/>
                </a:solidFill>
              </a:defRPr>
            </a:pPr>
            <a:r>
              <a:rPr sz="1800" b="1">
                <a:solidFill>
                  <a:srgbClr val="F4F5F0"/>
                </a:solidFill>
              </a:rPr>
              <a:t>CREDITCOIN CC3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E4F03B-1A5E-4A74-8435-4D6ED589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8A194"/>
                </a:solidFill>
              </a:defRPr>
            </a:pPr>
            <a:r>
              <a:rPr sz="1500" b="0">
                <a:solidFill>
                  <a:srgbClr val="98A194"/>
                </a:solidFill>
              </a:rPr>
              <a:t>ERC-1155 changes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F43671-4AF9-492C-995D-8C371CDD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CED756-66BD-4D1B-BEB1-9BC8BB65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F5F0"/>
                </a:solidFill>
              </a:defRPr>
            </a:pPr>
            <a:r>
              <a:rPr sz="1125" b="1">
                <a:solidFill>
                  <a:srgbClr val="F4F5F0"/>
                </a:solidFill>
              </a:rPr>
              <a:t>CONTRACT DECIDES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3FFE7F-C84E-48E0-B6C6-5FEBC960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52B5AA-3F76-48E2-89A8-2FCF3FFD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503465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2458D6-3626-4965-A782-BFEC2CE4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5D866-0C09-41F4-A71B-78554C1C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MECHANISM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64615-8D73-4F31-AC12-301EE3B7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C7856-CF53-40C4-B35E-6A35117C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A5217-7076-4DEA-A327-38E6AD1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One payment. One proof. One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94828-EC07-4C81-9720-26922FE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The worker observes; Attestcoin proves; the contract owns the decision.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36545-8085-4D4E-809D-8840578D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9620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4070A-64E2-45DB-AFBA-AE000856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0C"/>
          </a:solidFill>
          <a:ln xmlns:a="http://schemas.openxmlformats.org/drawingml/2006/main" w="28575">
            <a:solidFill>
              <a:srgbClr val="B7EE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02031C-5564-4739-BE81-EBFFAE2D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1CBC0-1278-4A3A-995E-A6259E82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SELLER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F8A1A-3DE0-4A4D-A40D-1B83C51C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Escrows ERC-1155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0DE41-C477-46D0-971B-3D27F665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0C"/>
          </a:solidFill>
          <a:ln xmlns:a="http://schemas.openxmlformats.org/drawingml/2006/main" w="28575">
            <a:solidFill>
              <a:srgbClr val="B7EE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E83677-06F0-49D1-AAB3-2E9F1CCA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B9540-7C9C-487A-B907-EFB7177D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BUYER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FC9EA2-FF21-4D80-B5BA-1EDEF5AB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Pays native USDC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2C16A-4894-4166-814E-A52E0897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0C"/>
          </a:solidFill>
          <a:ln xmlns:a="http://schemas.openxmlformats.org/drawingml/2006/main" w="28575">
            <a:solidFill>
              <a:srgbClr val="B7EE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7D7E50-409A-473E-8D66-C1A59BD4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45EE0-4A29-4C1B-9BD8-7C956A3B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WORKER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A824E-F305-4A8B-9AED-22CC0202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Discovers receipt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7E7A22-644A-4A85-B7C1-CBEC2DA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0C"/>
          </a:solidFill>
          <a:ln xmlns:a="http://schemas.openxmlformats.org/drawingml/2006/main" w="28575">
            <a:solidFill>
              <a:srgbClr val="B7EE4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28E5A9-43A7-4CBE-9F55-13552DF5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A72E8-2A0B-49B8-9CBB-8E131049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ATTESTCOIN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860461-CC75-4CDE-81F8-E27264F6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Builds proof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15CFD2-3DDE-483D-816A-2C5DC545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28575">
            <a:solidFill>
              <a:srgbClr val="B7EE4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D2EA1-6BA1-4CF2-9EA1-CFBCC01D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510"/>
                </a:solidFill>
              </a:defRPr>
            </a:pPr>
            <a:r>
              <a:rPr sz="1200" b="1">
                <a:solidFill>
                  <a:srgbClr val="111510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7946C0-392D-4E7F-890F-27732008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CONTRACT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1C28B4-C4E5-4843-8B83-4FA613BA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Verifies + releases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97DBB5-3BC6-4FB9-B84A-3A5D5B78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EE42"/>
                </a:solidFill>
              </a:defRPr>
            </a:pPr>
            <a:r>
              <a:rPr sz="1125" b="1">
                <a:solidFill>
                  <a:srgbClr val="B7EE42"/>
                </a:solidFill>
              </a:rPr>
              <a:t>PAYMENT STAYS ON ETHEREUM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2DA1FC-A9E4-447C-95F5-15027EE6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19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7EE42"/>
                </a:solidFill>
              </a:defRPr>
            </a:pPr>
            <a:r>
              <a:rPr sz="1125" b="1">
                <a:solidFill>
                  <a:srgbClr val="B7EE42"/>
                </a:solidFill>
              </a:rPr>
              <a:t>OWNERSHIP STAYS ON CREDITCOIN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901663-CB87-4256-AFA2-4ACE8088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3B815B-1B7D-434D-993A-4CDDED35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39808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5A9355-AF47-41CE-A541-2F74BF7A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062BC-6353-4001-BBD7-B191EBFF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5A814-143B-4363-AEB7-9F58DCE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FD8C7-C163-4191-BC69-3BA238E4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447CD-5278-4E90-AF77-9888776B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Settlement has one admissible path: exact proof match.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C4CEC-EEFB-4FC6-A19B-6C5B8630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Verified bytes—not worker claims—must satisfy every on-chain constraint.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862EA-0D84-41BC-B6F9-2ABD205D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8C0FF-8E96-423F-A9F8-86D64C92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F5918-8A8F-4807-81BD-61842FBB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95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Verifier precompile accepts inclusion + continuity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4B4B5-A1B8-43AB-B3A1-57CC640C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951A36-261F-4057-AF02-FDD9DA6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68692F-AFFD-4053-94C0-EAFA8697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95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Receipt status is successful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F2BC4-317B-4EE1-A5BC-8A0E4544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90B6D-405C-4A38-8E51-F2ADAB2F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04A4F-CFDB-4BCA-A652-D299B791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Emitter is official Sepolia USDC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DF2DDB-99D8-4906-865D-671AD301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B1417-AF13-47B6-9860-79319CCD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05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353D59-5B04-4D0A-A926-B0539798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86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Buyer, seller, amount, token, and window match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B5E1A-C6AF-4592-ABA9-6226DFE3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5BEC4-B7AD-484B-A123-4A3F90B1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95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B2EE77-55C4-4BF0-A569-97BED2C7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768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Exactly one Transfer event matches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DC3F6-ADD3-4492-95B8-ACA84E10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053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53A82-B49B-4FA1-A9DA-95F9B4B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EE42"/>
                </a:solidFill>
              </a:defRPr>
            </a:pPr>
            <a:r>
              <a:rPr sz="1800" b="1">
                <a:solidFill>
                  <a:srgbClr val="B7EE42"/>
                </a:solidFill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B2BAF5-447D-46F1-92BC-B4E9DD99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768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Query ID has never been used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2C6B19-2165-4304-8931-7ADE801D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EC1175-71F6-437D-8A04-483E4F99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1647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7EA4DC-2B13-43E2-98DB-6A32B6C4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1AA0F-65F6-45F5-808D-0E9EC71E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SECURITY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E466D6-B1E4-413A-B601-EB971112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855F7-1E8A-4913-A983-A44830F1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FC87A-27FF-44BD-BA4D-5DB99607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The worker carries evidence—never authority.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914361-01D1-4174-896B-AE9D9A1E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Settlement power remains inside non-upgradeable contract logic.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C9E2C-CCE7-413F-9D98-A12FE9AA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CONTRACT ENFORCES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5247C-FE4C-44C7-9C8D-BFBFF53C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86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OPERATOR CANNOT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E3866-527A-459E-A535-C328F5D3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EE42"/>
                </a:solidFill>
              </a:defRPr>
            </a:pPr>
            <a:r>
              <a:rPr sz="1650" b="1">
                <a:solidFill>
                  <a:srgbClr val="B7EE42"/>
                </a:solidFill>
              </a:rPr>
              <a:t>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6A0EB6-DB45-4F0A-A905-18486C5B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194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Release and replay marker are atomic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D4282C-DA05-4C65-ACAB-104819F0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EE42"/>
                </a:solidFill>
              </a:defRPr>
            </a:pPr>
            <a:r>
              <a:rPr sz="1650" b="1">
                <a:solidFill>
                  <a:srgbClr val="B7EE42"/>
                </a:solidFill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7EBE6-8E03-43A1-8B89-02EF9337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Checks-effects-interactions + reentrancy guard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2EA75-8A96-4A8A-A993-306AC288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EE42"/>
                </a:solidFill>
              </a:defRPr>
            </a:pPr>
            <a:r>
              <a:rPr sz="1650" b="1">
                <a:solidFill>
                  <a:srgbClr val="B7EE42"/>
                </a:solidFill>
              </a:rPr>
              <a:t>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2EAAC2-054D-45A1-9B61-72629E0D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One open sale per exact payment tuple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BCCF0-4434-44FC-B89B-6F6248A4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EE42"/>
                </a:solidFill>
              </a:defRPr>
            </a:pPr>
            <a:r>
              <a:rPr sz="1650" b="1">
                <a:solidFill>
                  <a:srgbClr val="B7EE42"/>
                </a:solidFill>
              </a:rPr>
              <a:t>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161D39-ED06-4DE4-8ECF-1F53BFD8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91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Reclaim only after payment window + grace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D3EA6-61B4-46D4-B7BE-23298152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4F0E4F-8ECC-4898-9C5D-DB03A053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194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Force-settle escrowed assets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44AB4F-45E8-44A9-BBF0-D9B352BE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BCD2D-637B-4B6D-A82E-66496D31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100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Mark arbitrary proofs as verified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1C1C99-E284-4792-A391-D8FB4291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E9D3B9-718C-4D41-A243-A24D64FF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Change buyer after sale creation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0770B2-FEED-4F75-A679-4A832F03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4C774-175F-480D-9581-DA0EC40C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911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Touch funds or hold privileged roles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06EA16-56AE-444D-BF64-F4F92523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E02BD3-D0C0-41C2-99C3-FCA9B217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32899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3BB3EB-6A23-45F7-B51D-15656F81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697F5-8537-4EFB-8106-501D0B35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LIVE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B84C1-A90B-41EE-B224-2B68D373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6E42E-FD64-49E5-B7F8-84EF97D3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C70C8-884D-4FDB-8BBE-77ACBC78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A complete testnet settlement closes the loop.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CE516-37C0-4474-A093-76401BDB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Distinct buyer and seller wallets; official Sepolia USDC; final ownership on CC3.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A8340-C836-4689-A2EE-32C571A4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4B3F6-FCC5-4222-A34B-EC802464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5F0"/>
                </a:solidFill>
              </a:defRPr>
            </a:pPr>
            <a:r>
              <a:rPr sz="2550" b="1">
                <a:solidFill>
                  <a:srgbClr val="F4F5F0"/>
                </a:solidFill>
              </a:rPr>
              <a:t>489 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DEDCC-F291-4C7B-9FB4-7378E3A3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8A194"/>
                </a:solidFill>
              </a:defRPr>
            </a:pPr>
            <a:r>
              <a:rPr sz="900" b="1">
                <a:solidFill>
                  <a:srgbClr val="98A194"/>
                </a:solidFill>
              </a:rPr>
              <a:t>PAYMENT → SETTLEMENT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DC943-376F-4CB7-8128-1958589D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C2FE4-B8A4-4FBF-941C-9A0E03B3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5F0"/>
                </a:solidFill>
              </a:defRPr>
            </a:pPr>
            <a:r>
              <a:rPr sz="2550" b="1">
                <a:solidFill>
                  <a:srgbClr val="F4F5F0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748175-40E4-4960-9C5D-2C58A0B4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8A194"/>
                </a:solidFill>
              </a:defRPr>
            </a:pPr>
            <a:r>
              <a:rPr sz="900" b="1">
                <a:solidFill>
                  <a:srgbClr val="98A194"/>
                </a:solidFill>
              </a:rPr>
              <a:t>INDEPENDENT WALLETS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5E9D40-DE77-41A6-926D-698838D4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B502F5-40D6-4C3C-B4B5-609AF392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5F0"/>
                </a:solidFill>
              </a:defRPr>
            </a:pPr>
            <a:r>
              <a:rPr sz="2550" b="1">
                <a:solidFill>
                  <a:srgbClr val="F4F5F0"/>
                </a:solidFill>
              </a:rPr>
              <a:t>1 /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A111C9-5660-477D-A04E-74CD16F1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8A194"/>
                </a:solidFill>
              </a:defRPr>
            </a:pPr>
            <a:r>
              <a:rPr sz="900" b="1">
                <a:solidFill>
                  <a:srgbClr val="98A194"/>
                </a:solidFill>
              </a:rPr>
              <a:t>BUYER / ESCROW BALANCE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5B3B6-7AA7-435A-A571-FFC733FC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72014"/>
          </a:solidFill>
          <a:ln xmlns:a="http://schemas.openxmlformats.org/drawingml/2006/main" w="9525">
            <a:solidFill>
              <a:srgbClr val="B7EE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4F8AC1-C99D-4233-888B-45B31153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EE42"/>
                </a:solidFill>
              </a:defRPr>
            </a:pPr>
            <a:r>
              <a:rPr sz="2550" b="1">
                <a:solidFill>
                  <a:srgbClr val="B7EE42"/>
                </a:solidFill>
              </a:rPr>
              <a:t>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1648EA-E738-41D5-9639-D2D53D46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8A194"/>
                </a:solidFill>
              </a:defRPr>
            </a:pPr>
            <a:r>
              <a:rPr sz="900" b="1">
                <a:solidFill>
                  <a:srgbClr val="98A194"/>
                </a:solidFill>
              </a:rPr>
              <a:t>REPLAY MARKER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A31B2-18E1-46E9-A779-4E0000AC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SEPOLIA 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C534E5-D839-4B95-B9F9-4D381E41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5 USDC · block 11,566,178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017434-D23A-45CF-8A16-6344B8A5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386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CREDITCOIN SETTLEMENT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800844-955D-40AE-BDB3-7FC8C781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Status SETTLED · token 1001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B6523-0460-4269-89FC-32E9F32E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72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8A194"/>
                </a:solidFill>
              </a:defRPr>
            </a:pPr>
            <a:r>
              <a:rPr sz="1125" b="0">
                <a:solidFill>
                  <a:srgbClr val="98A194"/>
                </a:solidFill>
              </a:rPr>
              <a:t>Query 0x4c94e8b1…d853e655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6A7FF-5987-4509-B11C-B519C787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372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8A194"/>
                </a:solidFill>
              </a:defRPr>
            </a:pPr>
            <a:r>
              <a:rPr sz="1125" b="0">
                <a:solidFill>
                  <a:srgbClr val="98A194"/>
                </a:solidFill>
              </a:rPr>
              <a:t>Tx 0xcf9dd953…56eff96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CA7D1-54EE-416E-A89B-E11F829F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3E84E0-FA67-4DCD-918F-EEFC9819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52356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BA80F-23C5-41E9-BF58-1B46938E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98DE4-B5A1-4A6B-9119-70A824BB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ED45F-F399-4FD0-A9B0-D9F9F336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D1E92-C2F1-418B-A30E-49D588BD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766F2-EC30-41FD-BB3C-3F4427C9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The protocol is already usable through a guided playground.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CF2A3-8544-44DC-83BA-03EA32F8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Builders can inspect the flow, open evidence, and integrate against documented contracts.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8a964b2594af4"/>
          <a:srcRect xmlns:a="http://schemas.openxmlformats.org/drawingml/2006/main" l="0" t="19315" r="0" b="19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590800"/>
            <a:ext cx="7239000" cy="3429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EF8D7-3266-465E-A220-CFFAD3CD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7EE42"/>
                </a:solidFill>
              </a:defRPr>
            </a:pPr>
            <a:r>
              <a:rPr sz="1050" b="1">
                <a:solidFill>
                  <a:srgbClr val="B7EE42"/>
                </a:solidFill>
              </a:rPr>
              <a:t>WHAT SHIPS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D476E-C675-4BEE-A70A-0031F161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A69F2-54F1-45A3-A91C-25D11C4B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813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5F0"/>
                </a:solidFill>
              </a:defRPr>
            </a:pPr>
            <a:r>
              <a:rPr sz="1275" b="0">
                <a:solidFill>
                  <a:srgbClr val="F4F5F0"/>
                </a:solidFill>
              </a:rPr>
              <a:t>Wallet-free simulation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CF55-225F-4165-8156-82DF4ED1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385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55A2C-0935-4393-839A-63F57A6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5F0"/>
                </a:solidFill>
              </a:defRPr>
            </a:pPr>
            <a:r>
              <a:rPr sz="1275" b="0">
                <a:solidFill>
                  <a:srgbClr val="F4F5F0"/>
                </a:solidFill>
              </a:rPr>
              <a:t>Evidence links for each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B7FAC-2553-42D5-926A-443F2B6A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E819A-19A1-402D-B519-4B009F54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5F0"/>
                </a:solidFill>
              </a:defRPr>
            </a:pPr>
            <a:r>
              <a:rPr sz="1275" b="0">
                <a:solidFill>
                  <a:srgbClr val="F4F5F0"/>
                </a:solidFill>
              </a:rPr>
              <a:t>API reference + ABI downloads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2679B-0756-41ED-B630-49D2B50E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529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F4F18A-BF46-4CE6-886D-DA57FC81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529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5F0"/>
                </a:solidFill>
              </a:defRPr>
            </a:pPr>
            <a:r>
              <a:rPr sz="1275" b="0">
                <a:solidFill>
                  <a:srgbClr val="F4F5F0"/>
                </a:solidFill>
              </a:rPr>
              <a:t>Typed errors and request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DCBC1-6C82-4793-A3BE-6450334A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101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EE42"/>
                </a:solidFill>
              </a:defRPr>
            </a:pPr>
            <a:r>
              <a:rPr sz="1350" b="1">
                <a:solidFill>
                  <a:srgbClr val="B7EE42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4153A-2ABF-4F1E-BF38-AA923A72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10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F5F0"/>
                </a:solidFill>
              </a:defRPr>
            </a:pPr>
            <a:r>
              <a:rPr sz="1275" b="0">
                <a:solidFill>
                  <a:srgbClr val="F4F5F0"/>
                </a:solidFill>
              </a:rPr>
              <a:t>Worker automation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1ACCC5-B0BF-468B-A081-F1919304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7F86EF-99B0-4D38-BD6D-029806A9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632721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F01BEB-8A4C-44D5-8FD3-F527199E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21CD6-0ECB-4534-9352-B19EDA08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CF822-F9B2-464A-B6B6-9B68E1EC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B1453-9B10-46AE-A18A-A09BD422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47ABC-2408-4878-87A9-48609762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The stack is tested from contract to application.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7B614-7613-4FD4-9451-641438A8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The latest recorded audit verifies the deployed v3 path and its settlement invariants.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EB06F-FD55-4394-BEC1-47BDBAC3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9704D-4961-4FA6-BA33-BA7B5CD7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EE42"/>
                </a:solidFill>
              </a:defRPr>
            </a:pPr>
            <a:r>
              <a:rPr sz="2550" b="1">
                <a:solidFill>
                  <a:srgbClr val="B7EE42"/>
                </a:solidFill>
              </a:rPr>
              <a:t>19 / 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26BE04-5E7C-490D-A00E-1FADC622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APPLICATION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76BD9-2AD7-40A7-8E86-3B89EFF4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987B8A-DECB-46EC-A620-A674DE47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EE42"/>
                </a:solidFill>
              </a:defRPr>
            </a:pPr>
            <a:r>
              <a:rPr sz="2550" b="1">
                <a:solidFill>
                  <a:srgbClr val="B7EE42"/>
                </a:solidFill>
              </a:rPr>
              <a:t>9 / 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57DAF-7337-4EFE-B4D6-C8E30838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FOUNDRY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8490DC-E7A7-4AE8-907B-E3A4C42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5FF1D-22B1-4A3D-B2C9-0EBFAD4E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EE42"/>
                </a:solidFill>
              </a:defRPr>
            </a:pPr>
            <a:r>
              <a:rPr sz="2550" b="1">
                <a:solidFill>
                  <a:srgbClr val="B7EE42"/>
                </a:solidFill>
              </a:rPr>
              <a:t>256k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5F889-FC59-4983-AC81-B4101A04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INVARIANT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0046E-20E2-4A34-9905-3ADC71CD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A15"/>
          </a:solidFill>
          <a:ln xmlns:a="http://schemas.openxmlformats.org/drawingml/2006/main" w="9525">
            <a:solidFill>
              <a:srgbClr val="2B352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F955C8-7C06-4543-9F7C-F33F0F98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EE42"/>
                </a:solidFill>
              </a:defRPr>
            </a:pPr>
            <a:r>
              <a:rPr sz="2550" b="1">
                <a:solidFill>
                  <a:srgbClr val="B7EE42"/>
                </a:solidFill>
              </a:rPr>
              <a:t>CLEAN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021B4-63C7-4B7D-A5CF-69DBB582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TYPECHECK + LINT +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8929F-FEAC-481E-8DAB-647DBEA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5F0"/>
                </a:solidFill>
              </a:defRPr>
            </a:pPr>
            <a:r>
              <a:rPr sz="1425" b="1">
                <a:solidFill>
                  <a:srgbClr val="F4F5F0"/>
                </a:solidFill>
              </a:rPr>
              <a:t>Security posture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C22C1-9D59-4A3B-A313-8718943A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8A194"/>
                </a:solidFill>
              </a:defRPr>
            </a:pPr>
            <a:r>
              <a:rPr sz="1350" b="0">
                <a:solidFill>
                  <a:srgbClr val="98A194"/>
                </a:solidFill>
              </a:rPr>
              <a:t>Reentrancy finding resolved. Remaining Slither note is the intentional reclaim timestamp comparison.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723DDA-F399-4E2B-BF1A-2AD42149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B163B5-45AC-4A01-A43A-0D27E764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199082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D9F94C-E97C-4EDB-903A-8B7D6B9B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A63A5-2B83-49E1-9F6F-7BAA10BD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ADOPTION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38AE8-9AAE-4B89-A425-FC4CCE4A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D5A6A-6B76-4927-9BCA-30ECD8FA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9FD48-17D3-4DC1-9AE4-8227D0AE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Credo is a settlement layer—not a marketplace.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DD8ED-DCFC-4276-B7F5-D2D19B7A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The protocol owns truth; ecosystem products own discovery, pricing, compliance, and experience.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CC8DB-A9A6-46AA-B015-F594D6BB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CREDO 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C1BCA-0864-47FE-A83B-89A9A555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EE42"/>
                </a:solidFill>
              </a:defRPr>
            </a:pPr>
            <a:r>
              <a:rPr sz="1200" b="1">
                <a:solidFill>
                  <a:srgbClr val="B7EE42"/>
                </a:solidFill>
              </a:rPr>
              <a:t>BUILDER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900F7-32B2-458F-9C51-85CF4D3D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Escrow + deterministic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4D323-549B-44D7-9ADF-3B9520E4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Attestcoin verification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8F4AA0-A309-4028-A99E-20993606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Payment-intent uniqueness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9357E-F2F0-4B14-A11D-53B68E01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Replay protection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AD57D-BC2A-44F8-935D-926073FF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Worker automation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3C1F1F-D2EF-4A49-870E-DFBED262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76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5F0"/>
                </a:solidFill>
              </a:defRPr>
            </a:pPr>
            <a:r>
              <a:rPr sz="1350" b="1">
                <a:solidFill>
                  <a:srgbClr val="F4F5F0"/>
                </a:solidFill>
              </a:rPr>
              <a:t>RWA marketplaces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7E54C1-9C7A-4E9E-B670-5F277694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OTC and private sales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65E0E-6549-4E12-905A-C564DEEF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9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Issuance + compliance apps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6B1B74-0BF7-444C-A4F5-3AEF9F09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Portfolio and analytics products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5B770-CABD-4B07-A384-B7A23CBF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81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5F0"/>
                </a:solidFill>
              </a:defRPr>
            </a:pPr>
            <a:r>
              <a:rPr sz="1350" b="0">
                <a:solidFill>
                  <a:srgbClr val="F4F5F0"/>
                </a:solidFill>
              </a:rPr>
              <a:t>Any DvP-enabled experience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26146A-868B-412C-B97E-8C04FB27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2415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AD6057-DF28-40C1-BD7C-59227DBA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92135-18B8-4E43-835A-8DF6FE66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807222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DE937-3D0A-441E-A01D-01C58BD5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493B9-5B65-47C4-A14F-3A9CE129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8A194"/>
                </a:solidFill>
              </a:defRPr>
            </a:pPr>
            <a:r>
              <a:rPr sz="825" b="1">
                <a:solidFill>
                  <a:srgbClr val="98A194"/>
                </a:solidFill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04E26-B0BC-4D1F-A233-91916AE4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212ED-C8C8-4CE3-896F-02DFA9C0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EE42"/>
                </a:solidFill>
              </a:defRPr>
            </a:pPr>
            <a:r>
              <a:rPr sz="1275" b="1">
                <a:solidFill>
                  <a:srgbClr val="B7EE42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F9F79-2A84-43BC-A1F7-6574991E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5F0"/>
                </a:solidFill>
              </a:defRPr>
            </a:pPr>
            <a:r>
              <a:rPr sz="3150" b="1">
                <a:solidFill>
                  <a:srgbClr val="F4F5F0"/>
                </a:solidFill>
              </a:rPr>
              <a:t>Scale the primitive without weakening the trust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69028-386D-439E-A554-7C969DDC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8A194"/>
                </a:solidFill>
              </a:defRPr>
            </a:pPr>
            <a:r>
              <a:rPr sz="1425" b="0">
                <a:solidFill>
                  <a:srgbClr val="98A194"/>
                </a:solidFill>
              </a:rPr>
              <a:t>The current testnet release is proven; the next phases expand access and asset coverage.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9ED90-F3B0-41A3-9BAB-9AC4AF39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F9E03-06AA-4D10-A04A-A7389F82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EE42"/>
                </a:solidFill>
              </a:defRPr>
            </a:pPr>
            <a:r>
              <a:rPr sz="975" b="1">
                <a:solidFill>
                  <a:srgbClr val="B7EE42"/>
                </a:solidFill>
              </a:rPr>
              <a:t>NOW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EE5C66-21D3-492C-903D-A9976145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SETTLEMENT PRIMITIVE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1AA01-97A5-4C35-BDF0-C6814287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Shipped on CC3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C94284-E657-44F6-AB02-8BF8D8D1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0A526B-AFE5-4D17-BFEB-0D9E3AB7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8AF9C4-FC65-4A86-9EEB-217C8AD0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RESERVATIONS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4FC072-3578-4DC0-90F3-1FC92AFE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Remove double-buyer 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48797-7570-4CEF-8B4D-ED49A2D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3952A-6B5F-4329-BA07-6F15E41C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THEN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1548BE-A85C-4026-A2CC-EFC3942C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ASSET ADAPTERS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B118BC-2423-4671-8054-C98D6DF0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ERC-20 / 721 / 3643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1641A-EF04-4D90-A992-60FB26CE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52C"/>
          </a:solidFill>
          <a:ln xmlns:a="http://schemas.openxmlformats.org/drawingml/2006/main" w="0">
            <a:solidFill>
              <a:srgbClr val="2B35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136918-87DD-4FF4-BC80-554362E7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8A194"/>
                </a:solidFill>
              </a:defRPr>
            </a:pPr>
            <a:r>
              <a:rPr sz="975" b="1">
                <a:solidFill>
                  <a:srgbClr val="98A194"/>
                </a:solidFill>
              </a:rPr>
              <a:t>LATER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0E06D4-78AF-4012-8915-C390BD51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5F0"/>
                </a:solidFill>
              </a:defRPr>
            </a:pPr>
            <a:r>
              <a:rPr sz="1500" b="1">
                <a:solidFill>
                  <a:srgbClr val="F4F5F0"/>
                </a:solidFill>
              </a:rPr>
              <a:t>TWO-WAY DVP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94C50-5147-4CFA-A1F8-1108F6D9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8A194"/>
                </a:solidFill>
              </a:defRPr>
            </a:pPr>
            <a:r>
              <a:rPr sz="1200" b="0">
                <a:solidFill>
                  <a:srgbClr val="98A194"/>
                </a:solidFill>
              </a:rPr>
              <a:t>Requires reverse write-back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0F5FC-F6B7-456F-A13D-D44BB28C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95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6140F"/>
          </a:solidFill>
          <a:ln xmlns:a="http://schemas.openxmlformats.org/drawingml/2006/main" w="9525">
            <a:solidFill>
              <a:srgbClr val="51442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DEB61C-D501-4489-A1C1-B58B052E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007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1D38A"/>
                </a:solidFill>
              </a:defRPr>
            </a:pPr>
            <a:r>
              <a:rPr sz="1200" b="1">
                <a:solidFill>
                  <a:srgbClr val="F1D38A"/>
                </a:solidFill>
              </a:rPr>
              <a:t>HONEST LIMIT: payment is irreversible before Creditcoin release; this is proof-triggered settlement, not an atomic two-chain swap.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03CFE1-235E-44AB-8EF8-8650D4E7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9D4334-5AA3-4700-A186-573964F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802203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4f1d97d0b4861"/>
          <a:stretch xmlns:a="http://schemas.openxmlformats.org/drawingml/2006/main"/>
        </p:blipFill>
        <p:spPr>
          <a:xfrm xmlns:a="http://schemas.openxmlformats.org/drawingml/2006/main">
            <a:off x="5657850" y="1022350"/>
            <a:ext cx="876300" cy="584200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EBB47-51D0-4563-9D01-51D3F7F5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145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EE42"/>
                </a:solidFill>
              </a:defRPr>
            </a:pPr>
            <a:r>
              <a:rPr sz="1650" b="1">
                <a:solidFill>
                  <a:srgbClr val="B7EE42"/>
                </a:solidFill>
              </a:rPr>
              <a:t>CREDO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8DEBE-23DD-40BC-A86E-2C092A09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05100"/>
            <a:ext cx="8001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4F5F0"/>
                </a:solidFill>
              </a:defRPr>
            </a:pPr>
            <a:r>
              <a:rPr sz="4050" b="1">
                <a:solidFill>
                  <a:srgbClr val="F4F5F0"/>
                </a:solidFill>
              </a:rPr>
              <a:t>Proof crosses.</a:t>
            </a:r>
          </a:p>
          <a:p xmlns:a="http://schemas.openxmlformats.org/drawingml/2006/main">
            <a:pPr algn="ctr">
              <a:defRPr sz="4050" b="1">
                <a:solidFill>
                  <a:srgbClr val="F4F5F0"/>
                </a:solidFill>
              </a:defRPr>
            </a:pPr>
            <a:r>
              <a:rPr sz="4050" b="1">
                <a:solidFill>
                  <a:srgbClr val="F4F5F0"/>
                </a:solidFill>
              </a:rPr>
              <a:t>Ownership moves.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67095-33C7-467B-81E2-4A2F294A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291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98A194"/>
                </a:solidFill>
              </a:defRPr>
            </a:pPr>
            <a:r>
              <a:rPr sz="1500" b="0">
                <a:solidFill>
                  <a:srgbClr val="98A194"/>
                </a:solidFill>
              </a:rPr>
              <a:t>No bridge. No wrapped USDC. No trusted worker.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81222-C32F-47E6-ABFC-57538EEA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720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EE42"/>
          </a:solidFill>
          <a:ln xmlns:a="http://schemas.openxmlformats.org/drawingml/2006/main" w="0">
            <a:solidFill>
              <a:srgbClr val="B7EE4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0FBB8-3A05-4B24-96B1-6D37B9CC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1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4F5F0"/>
                </a:solidFill>
              </a:defRPr>
            </a:pPr>
            <a:r>
              <a:rPr sz="1425" b="1">
                <a:solidFill>
                  <a:srgbClr val="F4F5F0"/>
                </a:solidFill>
              </a:rPr>
              <a:t>Build on the settlement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AE6E2C-4596-4563-9ECC-D6536E6C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38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98A194"/>
                </a:solidFill>
              </a:defRPr>
            </a:pPr>
            <a:r>
              <a:rPr sz="1125" b="0">
                <a:solidFill>
                  <a:srgbClr val="98A194"/>
                </a:solidFill>
              </a:rPr>
              <a:t>GitHub · Live playground · Testnet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82225-9398-4F00-B2A0-88F49585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8A194"/>
                </a:solidFill>
              </a:defRPr>
            </a:pPr>
            <a:r>
              <a:rPr sz="750" b="0">
                <a:solidFill>
                  <a:srgbClr val="98A194"/>
                </a:solidFill>
              </a:rPr>
              <a:t>BUIDL CTC 2026 · RWA TRACK · CREDITCOIN × ATTESTCOIN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E3F74-0876-432A-9AB1-B8CEEFA9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8A194"/>
                </a:solidFill>
              </a:defRPr>
            </a:pPr>
            <a:r>
              <a:rPr sz="750" b="1">
                <a:solidFill>
                  <a:srgbClr val="98A194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278780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2026-08-26T12:41:44.2130000Z</dcterms:created>
  <dcterms:modified xsi:type="dcterms:W3CDTF">2026-08-26T12:41:44.2130000Z</dcterms:modified>
</coreProperties>
</file>